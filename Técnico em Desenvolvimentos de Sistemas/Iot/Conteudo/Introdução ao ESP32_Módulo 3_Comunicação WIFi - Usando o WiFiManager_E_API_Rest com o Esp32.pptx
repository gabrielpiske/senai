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430" r:id="rId4"/>
    <p:sldId id="347" r:id="rId5"/>
    <p:sldId id="348" r:id="rId6"/>
    <p:sldId id="349" r:id="rId7"/>
    <p:sldId id="350" r:id="rId8"/>
    <p:sldId id="351" r:id="rId9"/>
    <p:sldId id="352" r:id="rId10"/>
    <p:sldId id="434" r:id="rId11"/>
    <p:sldId id="437" r:id="rId12"/>
    <p:sldId id="435" r:id="rId13"/>
    <p:sldId id="436" r:id="rId14"/>
    <p:sldId id="357" r:id="rId15"/>
    <p:sldId id="431" r:id="rId16"/>
    <p:sldId id="432" r:id="rId17"/>
    <p:sldId id="43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9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84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7F12-8EE0-8E50-6ECB-D38E56DE7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3CD66B-EDC8-3ED5-A1CF-B2E400FD8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FE579-A359-287A-A837-B13A236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D2A1A-D7B2-4AD7-8D7C-2C544DD5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7BF57-3315-A5F8-1EF8-8749563E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52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2C14-CD9A-DC61-A5AE-D1E0CA40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22F9D-C50F-9596-F1CA-DB8B54B0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BB9C8-608B-26F4-A3AF-BB65E8C5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33CA5-494F-CD2E-E2B6-81505B49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225F60-DE34-6DE7-7933-68E069A1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8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9437C-127F-F641-27E8-5D55BBF1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108DD9-6797-0C6D-43C0-75A74095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1D9AA-2158-ACF0-58CC-53312898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7F800-7CE1-F471-4B19-51359988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DFCC5-95CA-550A-1D92-0473EC0B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8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4F8A-C340-D25A-3307-AC036893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9CA43-91C9-5FFF-AF5E-D2D22B338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6EE5E7-7BAF-2D22-98C0-0138689B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A7F4DA-4FCE-F500-8E3F-23E6D11D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324529-3F06-24C4-2079-3151D34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4DB876-1C4E-2E00-4545-1D7B84D9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49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1E15C-B7CD-4112-3E10-11E0AD9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63B4F-F9B7-0B27-C4A4-482FD1E4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F24E23-E25E-FB19-A025-55E4C5AD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CCDF7-D0B2-2CEE-925D-37500294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B96BFB-0597-2899-0A5B-601FC0479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70746-AA74-6E87-5C77-3CFEBBD4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89DD85-1609-6018-E4DE-F96792C9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AA0A08-5A31-13C0-DEB1-92742DC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5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BD8C-CB28-6CED-A850-4F28C2DC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E66B48-CDA4-5812-843E-D58A5B38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5CD797-ABFE-7C45-3E1B-CE79B0B9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C3D140-F6A3-3C9D-0A61-036BC37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82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1463AE-71D0-FBCE-E22E-BFC81E1F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9416B0-09A0-C4C3-9B59-ABFF6C6C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4AE6C0-B075-BF69-768C-380DC573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9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D2DB4-DFDD-D2C7-1B39-DFA9F05B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A33A0-F3CB-BCF4-AE5C-79B340DC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3052FA-6508-FD7F-2B3C-549733B16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25367E-EAEA-005B-953F-2DE90841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0F1F40-6DED-1D3F-93C8-E7DA5DC2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02AB35-1110-7E25-5B15-0BEF75D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3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E4397-122B-6FA3-E200-70E0FBD1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D91E8-2EE6-4961-D979-5081A134E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18ECCB-3E03-7281-F88B-C514532B3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6043D-DB25-6668-04C2-1B559B83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EAEDF7-3D4B-6FD9-76D4-47ACB343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AF269A-CCDB-77A1-DCAF-E90B7C4C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4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18F72-92EC-9E4B-EB63-4F588951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C1D420-27A1-4694-9E7D-59889B3BD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F7909A-0877-D744-8345-1990B66D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2BFE1-194E-BD80-742F-90624BFF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FB879-1851-C773-6C0E-83B23D16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3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72EE07-858A-8227-1D24-397353224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27C95-1CB3-172B-9AF5-88FD91BA4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63B77-57DB-05D7-D74F-02EBA389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C777C8-A372-3932-DB99-E111D87D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95311-C9DA-BE06-10E2-B72F25C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7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[CT] Capa seçã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DE81F09-77C8-8AF0-5309-80196C6229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1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CT] Slide de título">
  <p:cSld name="[CT] Slide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CEB2130B-4070-CED1-DDE7-819F542A0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2833" y="960000"/>
            <a:ext cx="4326400" cy="20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871B8210-007B-E15F-BD9F-610FFA7BA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2833" y="3418333"/>
            <a:ext cx="3808400" cy="29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2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5DD460-A6E3-4CD0-BC45-69DA3306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61D1-5E1A-A1CA-50B6-8005BC04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DB802-9D30-E343-B18C-CC86F0C40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C1EE-88D3-48B5-A10B-D0BEBC52651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69B10-818D-5F86-A4A1-572292535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91260-D1CE-234F-8EF1-6C6978901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E623-C3E1-33FE-7D53-E07BA4540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4" y="1157224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6945-07C5-AE4B-36F4-5F34ADDB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24" y="3418333"/>
            <a:ext cx="5122921" cy="2933200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90F59656-152D-A34A-5580-73AD5801B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1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CE3-E0A2-2679-9830-89AA006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E163-F368-8F03-864D-9727B010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645" y="379182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B7A0-ADDB-CDDE-C5A8-B2D54A18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45" y="2503932"/>
            <a:ext cx="5122921" cy="3974885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  <a:p>
            <a:endParaRPr lang="pt-BR" dirty="0"/>
          </a:p>
          <a:p>
            <a:r>
              <a:rPr lang="pt-BR" dirty="0"/>
              <a:t>Aula 09: 4 horas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Protocolos de Comunicação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Comunicação </a:t>
            </a:r>
            <a:r>
              <a:rPr lang="pt-BR" sz="1600" dirty="0" err="1">
                <a:solidFill>
                  <a:schemeClr val="tx1"/>
                </a:solidFill>
              </a:rPr>
              <a:t>BlueTooth</a:t>
            </a:r>
            <a:r>
              <a:rPr lang="pt-BR" sz="1600" dirty="0">
                <a:solidFill>
                  <a:schemeClr val="tx1"/>
                </a:solidFill>
              </a:rPr>
              <a:t> com o 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dirty="0"/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B73DB14A-CDD9-C378-78B0-4E0D2204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mparação Entre Protocolos de Comunicação Serial - Tutoriais - RoboCore">
            <a:extLst>
              <a:ext uri="{FF2B5EF4-FFF2-40B4-BE49-F238E27FC236}">
                <a16:creationId xmlns:a16="http://schemas.microsoft.com/office/drawing/2014/main" id="{076A289A-8B7E-127B-081B-79FAA29A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298310"/>
            <a:ext cx="38100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ção de comunicação do ícone bluetooth | Vetor Premium">
            <a:extLst>
              <a:ext uri="{FF2B5EF4-FFF2-40B4-BE49-F238E27FC236}">
                <a16:creationId xmlns:a16="http://schemas.microsoft.com/office/drawing/2014/main" id="{1CD22AB6-8EA9-C07E-12DD-AD310236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589" y="1528762"/>
            <a:ext cx="2117725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uia de configuração da rede EDUROAM — IFRN - Instituto Federal do Rio  Grande do Norte">
            <a:extLst>
              <a:ext uri="{FF2B5EF4-FFF2-40B4-BE49-F238E27FC236}">
                <a16:creationId xmlns:a16="http://schemas.microsoft.com/office/drawing/2014/main" id="{D007F543-2AD9-A08F-A6DB-87E01F94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463576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32: Detalhes internos e pinagem - Fernando K Tecnologia">
            <a:extLst>
              <a:ext uri="{FF2B5EF4-FFF2-40B4-BE49-F238E27FC236}">
                <a16:creationId xmlns:a16="http://schemas.microsoft.com/office/drawing/2014/main" id="{464D7BF0-9FC6-79F0-4427-175C1374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898" y="1285610"/>
            <a:ext cx="50673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0636E9-2F09-EBDA-B2ED-77D88E37A6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16DEB-0410-4165-008C-0E85E4D8B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000"/>
            <a:ext cx="12192000" cy="6858000"/>
          </a:xfrm>
        </p:spPr>
        <p:txBody>
          <a:bodyPr>
            <a:normAutofit fontScale="90000"/>
          </a:bodyPr>
          <a:lstStyle/>
          <a:p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r>
              <a:rPr lang="pt-BR" sz="8000" b="1" dirty="0">
                <a:solidFill>
                  <a:schemeClr val="bg1"/>
                </a:solidFill>
              </a:rPr>
              <a:t>Introdução ao ESP32</a:t>
            </a:r>
            <a:br>
              <a:rPr lang="pt-BR" sz="8000" b="1" dirty="0">
                <a:solidFill>
                  <a:schemeClr val="bg1"/>
                </a:solidFill>
              </a:rPr>
            </a:br>
            <a:br>
              <a:rPr lang="pt-BR" sz="80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Módulo 3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Protocolos de Comunicação WiFi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Usando API </a:t>
            </a:r>
            <a:r>
              <a:rPr lang="pt-BR" sz="3100" b="1" dirty="0" err="1">
                <a:solidFill>
                  <a:schemeClr val="bg1"/>
                </a:solidFill>
              </a:rPr>
              <a:t>Rest</a:t>
            </a:r>
            <a:br>
              <a:rPr lang="pt-BR" sz="3100" b="1" dirty="0">
                <a:solidFill>
                  <a:schemeClr val="bg1"/>
                </a:solidFill>
              </a:rPr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9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80078" cy="31597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Comunicação com ESP32 via API REST e JSON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Monitoramento de sensores e controle de atuadores</a:t>
            </a:r>
          </a:p>
          <a:p>
            <a:pPr marL="914400" lvl="2" indent="0">
              <a:lnSpc>
                <a:spcPct val="160000"/>
              </a:lnSpc>
              <a:buNone/>
            </a:pPr>
            <a:r>
              <a:rPr lang="pt-BR" dirty="0"/>
              <a:t>GET → Leitura do DHT11</a:t>
            </a:r>
          </a:p>
          <a:p>
            <a:pPr marL="914400" lvl="2" indent="0">
              <a:lnSpc>
                <a:spcPct val="160000"/>
              </a:lnSpc>
              <a:buNone/>
            </a:pPr>
            <a:r>
              <a:rPr lang="pt-BR" dirty="0"/>
              <a:t>POST → Controle do Servo SG-90</a:t>
            </a:r>
          </a:p>
        </p:txBody>
      </p:sp>
    </p:spTree>
    <p:extLst>
      <p:ext uri="{BB962C8B-B14F-4D97-AF65-F5344CB8AC3E}">
        <p14:creationId xmlns:p14="http://schemas.microsoft.com/office/powerpoint/2010/main" val="220614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6C8B48-E7DA-2E6A-ABC9-C3D1DBBA0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dirty="0"/>
              <a:t>Objetivos da Aula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Entender o que é API REST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Aprender a configurar o ESP32 como servidor web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Realizar requisições GET e POST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Controlar atuadores (ex.: </a:t>
            </a:r>
            <a:r>
              <a:rPr lang="pt-BR" sz="2000" dirty="0" err="1"/>
              <a:t>servo-motor</a:t>
            </a:r>
            <a:r>
              <a:rPr lang="pt-B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pt-BR" sz="2000" dirty="0"/>
              <a:t>Ler sensores (ex.: DHT11) via API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001F4B5-4CA6-D53A-7E06-E6CB87AF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87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1" y="1564630"/>
            <a:ext cx="10793245" cy="47980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b="1" dirty="0"/>
              <a:t>O que é API RESTREST: </a:t>
            </a:r>
          </a:p>
          <a:p>
            <a:pPr lvl="1">
              <a:lnSpc>
                <a:spcPct val="160000"/>
              </a:lnSpc>
            </a:pPr>
            <a:r>
              <a:rPr lang="pt-BR" sz="2000" dirty="0" err="1"/>
              <a:t>Representational</a:t>
            </a:r>
            <a:r>
              <a:rPr lang="pt-BR" sz="2000" dirty="0"/>
              <a:t> </a:t>
            </a:r>
            <a:r>
              <a:rPr lang="pt-BR" sz="2000" dirty="0" err="1"/>
              <a:t>State</a:t>
            </a:r>
            <a:r>
              <a:rPr lang="pt-BR" sz="2000" dirty="0"/>
              <a:t> </a:t>
            </a:r>
            <a:r>
              <a:rPr lang="pt-BR" sz="2000" dirty="0" err="1"/>
              <a:t>Transfer</a:t>
            </a:r>
            <a:endParaRPr lang="pt-BR" sz="2000" dirty="0"/>
          </a:p>
          <a:p>
            <a:pPr lvl="1">
              <a:lnSpc>
                <a:spcPct val="160000"/>
              </a:lnSpc>
            </a:pPr>
            <a:r>
              <a:rPr lang="pt-BR" sz="2000" dirty="0"/>
              <a:t>Comunicação entre sistemas via HTTP</a:t>
            </a:r>
          </a:p>
          <a:p>
            <a:pPr lvl="1">
              <a:lnSpc>
                <a:spcPct val="160000"/>
              </a:lnSpc>
            </a:pPr>
            <a:r>
              <a:rPr lang="pt-BR" sz="2000" dirty="0"/>
              <a:t>Métodos principais:</a:t>
            </a:r>
          </a:p>
          <a:p>
            <a:pPr lvl="2">
              <a:lnSpc>
                <a:spcPct val="160000"/>
              </a:lnSpc>
            </a:pPr>
            <a:r>
              <a:rPr lang="pt-BR" sz="1600" dirty="0"/>
              <a:t>GET → leitura de dados</a:t>
            </a:r>
          </a:p>
          <a:p>
            <a:pPr lvl="2">
              <a:lnSpc>
                <a:spcPct val="160000"/>
              </a:lnSpc>
            </a:pPr>
            <a:r>
              <a:rPr lang="pt-BR" sz="1600" dirty="0"/>
              <a:t>POST → envio de dados / controle</a:t>
            </a:r>
          </a:p>
          <a:p>
            <a:pPr lvl="2">
              <a:lnSpc>
                <a:spcPct val="160000"/>
              </a:lnSpc>
            </a:pPr>
            <a:r>
              <a:rPr lang="pt-BR" sz="1600" dirty="0"/>
              <a:t>PUT e DELETE → atualização e exclusão (opcional)</a:t>
            </a:r>
          </a:p>
          <a:p>
            <a:pPr lvl="1">
              <a:lnSpc>
                <a:spcPct val="160000"/>
              </a:lnSpc>
            </a:pPr>
            <a:r>
              <a:rPr lang="pt-BR" sz="2000" dirty="0"/>
              <a:t>Formato de dados comum: JSON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6612ADD-5338-AC91-8B31-20CB72AD1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233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16578" cy="48742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b="1" dirty="0"/>
              <a:t>Estrutura de Comunicação</a:t>
            </a:r>
          </a:p>
          <a:p>
            <a:pPr>
              <a:lnSpc>
                <a:spcPct val="160000"/>
              </a:lnSpc>
            </a:pPr>
            <a:r>
              <a:rPr lang="pt-BR" sz="2000" dirty="0"/>
              <a:t>ESP32 como Servidor Web</a:t>
            </a:r>
          </a:p>
          <a:p>
            <a:pPr>
              <a:lnSpc>
                <a:spcPct val="160000"/>
              </a:lnSpc>
            </a:pPr>
            <a:r>
              <a:rPr lang="pt-BR" sz="2000" dirty="0"/>
              <a:t>Dispositivo externo ou computador como Cliente REST</a:t>
            </a:r>
          </a:p>
          <a:p>
            <a:pPr>
              <a:lnSpc>
                <a:spcPct val="160000"/>
              </a:lnSpc>
            </a:pPr>
            <a:r>
              <a:rPr lang="pt-BR" sz="2000" dirty="0"/>
              <a:t>Fluxo típico: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sz="2000" dirty="0"/>
              <a:t>Cliente envia requisição HTTP (GET ou POST)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sz="2000" dirty="0"/>
              <a:t>ESP32 processa a requisição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rabicPeriod"/>
            </a:pPr>
            <a:r>
              <a:rPr lang="pt-BR" sz="2000" dirty="0"/>
              <a:t>Retorna resposta JSON ou status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F19E2F8-C541-BF9C-FF15-4DCED664C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9856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1" y="1564630"/>
            <a:ext cx="11182711" cy="487427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b="1" dirty="0"/>
              <a:t>Requisitos de Hardware:</a:t>
            </a:r>
          </a:p>
          <a:p>
            <a:pPr>
              <a:lnSpc>
                <a:spcPct val="160000"/>
              </a:lnSpc>
            </a:pPr>
            <a:r>
              <a:rPr lang="pt-BR" sz="2000" dirty="0"/>
              <a:t>ESP32Sensor DHT11 (temperatura e umidade)</a:t>
            </a:r>
          </a:p>
          <a:p>
            <a:pPr>
              <a:lnSpc>
                <a:spcPct val="160000"/>
              </a:lnSpc>
            </a:pPr>
            <a:r>
              <a:rPr lang="pt-BR" sz="2000" dirty="0" err="1"/>
              <a:t>Servo-motor</a:t>
            </a:r>
            <a:r>
              <a:rPr lang="pt-BR" sz="2000" dirty="0"/>
              <a:t> SG-90</a:t>
            </a:r>
          </a:p>
          <a:p>
            <a:pPr>
              <a:lnSpc>
                <a:spcPct val="160000"/>
              </a:lnSpc>
            </a:pPr>
            <a:r>
              <a:rPr lang="pt-BR" sz="2000" dirty="0"/>
              <a:t>Software:</a:t>
            </a:r>
          </a:p>
          <a:p>
            <a:pPr lvl="1">
              <a:lnSpc>
                <a:spcPct val="160000"/>
              </a:lnSpc>
            </a:pPr>
            <a:r>
              <a:rPr lang="pt-BR" sz="2000" dirty="0"/>
              <a:t>Arduino IDE</a:t>
            </a:r>
          </a:p>
          <a:p>
            <a:pPr lvl="1">
              <a:lnSpc>
                <a:spcPct val="160000"/>
              </a:lnSpc>
            </a:pP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endParaRPr lang="pt-BR" sz="2000" dirty="0"/>
          </a:p>
          <a:p>
            <a:pPr lvl="1">
              <a:lnSpc>
                <a:spcPct val="160000"/>
              </a:lnSpc>
            </a:pPr>
            <a:r>
              <a:rPr lang="pt-BR" sz="2000" dirty="0"/>
              <a:t>Biblioteca </a:t>
            </a:r>
            <a:r>
              <a:rPr lang="pt-BR" sz="2000" dirty="0" err="1"/>
              <a:t>WebServer.h</a:t>
            </a:r>
            <a:endParaRPr lang="pt-BR" sz="2000" dirty="0"/>
          </a:p>
          <a:p>
            <a:pPr lvl="1">
              <a:lnSpc>
                <a:spcPct val="160000"/>
              </a:lnSpc>
            </a:pPr>
            <a:r>
              <a:rPr lang="pt-BR" sz="2000" dirty="0"/>
              <a:t>Biblioteca </a:t>
            </a:r>
            <a:r>
              <a:rPr lang="pt-BR" sz="2000" dirty="0" err="1"/>
              <a:t>DHT.h</a:t>
            </a:r>
            <a:endParaRPr lang="pt-BR" sz="2000" dirty="0"/>
          </a:p>
          <a:p>
            <a:pPr lvl="1">
              <a:lnSpc>
                <a:spcPct val="160000"/>
              </a:lnSpc>
            </a:pPr>
            <a:r>
              <a:rPr lang="pt-BR" sz="2000" dirty="0"/>
              <a:t>Biblioteca </a:t>
            </a:r>
            <a:r>
              <a:rPr lang="pt-BR" sz="2000" dirty="0" err="1"/>
              <a:t>Servo.h</a:t>
            </a:r>
            <a:endParaRPr lang="pt-BR" sz="20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5A9614-1C9B-0FAE-F32C-CF6E0EE8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3627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8039-2A5F-B177-B398-D5D4F194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23FBAA9-D43C-8716-BC15-D2C8B0F6F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186AB50-B6DA-1BC7-A1A7-2E80CB68C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978323"/>
            <a:ext cx="10938933" cy="587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9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C6369-530C-97FE-7257-9FD89B87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8E5FB7D-51AA-4E61-F600-479B8116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E4B920-10A3-8205-BEDE-A9B90BA3B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003511"/>
            <a:ext cx="10718800" cy="57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29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F94C6-0341-B795-8016-B73BF6A94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D20C3C5-FF7A-37AE-F971-5398A715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310EBE-9363-3D40-64F8-8591B3E6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66" y="1009331"/>
            <a:ext cx="10676467" cy="573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4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4185-6482-2B36-2BBC-D502AE79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0DD02F0-B59D-83DD-F3FB-D40DD83F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B55A4B-35D3-820F-F8DC-A85E26220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3" y="1011344"/>
            <a:ext cx="10735733" cy="577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24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A333130B-F1F9-BC82-F667-314AD2D22D7E}"/>
              </a:ext>
            </a:extLst>
          </p:cNvPr>
          <p:cNvSpPr txBox="1"/>
          <p:nvPr/>
        </p:nvSpPr>
        <p:spPr>
          <a:xfrm>
            <a:off x="662516" y="1420335"/>
            <a:ext cx="110384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Testando no </a:t>
            </a:r>
            <a:r>
              <a:rPr lang="pt-BR" sz="2000" b="1" dirty="0" err="1"/>
              <a:t>Postman</a:t>
            </a:r>
            <a:endParaRPr lang="pt-BR" sz="2000" b="1" dirty="0"/>
          </a:p>
          <a:p>
            <a:endParaRPr lang="pt-BR" sz="2000" b="1" dirty="0"/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GET → http://&lt;IP_ESP32&gt;/dht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Retorno: {"temperatura":25.5,"umidade":60}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POST → http://&lt;IP_ESP32&gt;/servo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Body (</a:t>
            </a:r>
            <a:r>
              <a:rPr lang="pt-BR" sz="2000" dirty="0" err="1"/>
              <a:t>form-data</a:t>
            </a:r>
            <a:r>
              <a:rPr lang="pt-BR" sz="2000" dirty="0"/>
              <a:t> ou x-</a:t>
            </a:r>
            <a:r>
              <a:rPr lang="pt-BR" sz="2000" dirty="0" err="1"/>
              <a:t>www</a:t>
            </a:r>
            <a:r>
              <a:rPr lang="pt-BR" sz="2000" dirty="0"/>
              <a:t>-</a:t>
            </a:r>
            <a:r>
              <a:rPr lang="pt-BR" sz="2000" dirty="0" err="1"/>
              <a:t>form-urlencoded</a:t>
            </a:r>
            <a:r>
              <a:rPr lang="pt-BR" sz="2000" dirty="0"/>
              <a:t>): </a:t>
            </a:r>
            <a:r>
              <a:rPr lang="pt-BR" sz="2000" dirty="0" err="1"/>
              <a:t>angle</a:t>
            </a:r>
            <a:r>
              <a:rPr lang="pt-BR" sz="2000" dirty="0"/>
              <a:t>=90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Retorno: {"status":"OK","angle":90}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D3CEB338-9248-8C02-3A70-21C5B49BC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6304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7150284-8C41-1455-F090-0D2BA945E6C9}"/>
              </a:ext>
            </a:extLst>
          </p:cNvPr>
          <p:cNvSpPr txBox="1"/>
          <p:nvPr/>
        </p:nvSpPr>
        <p:spPr>
          <a:xfrm>
            <a:off x="1202267" y="1592702"/>
            <a:ext cx="7416800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Exemplo Completo do Código</a:t>
            </a:r>
          </a:p>
          <a:p>
            <a:pPr>
              <a:lnSpc>
                <a:spcPct val="150000"/>
              </a:lnSpc>
            </a:pPr>
            <a:endParaRPr lang="pt-B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Combinar WiFi, </a:t>
            </a:r>
            <a:r>
              <a:rPr lang="pt-BR" sz="2000" dirty="0" err="1"/>
              <a:t>WebServer</a:t>
            </a:r>
            <a:r>
              <a:rPr lang="pt-BR" sz="2000" dirty="0"/>
              <a:t>, DHT11 e Servo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Respostas JSON padronizadas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Estrutura modular: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Funções separadas para cada </a:t>
            </a:r>
            <a:r>
              <a:rPr lang="pt-BR" sz="2000" dirty="0" err="1"/>
              <a:t>endpoint</a:t>
            </a:r>
            <a:endParaRPr lang="pt-BR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Fácil expansão para mais sensores/atuadores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595E6A5-EAF4-CE36-1C57-6038866B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198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86CE24E-42D2-DF8B-3C00-4584EC9C76BB}"/>
              </a:ext>
            </a:extLst>
          </p:cNvPr>
          <p:cNvSpPr txBox="1"/>
          <p:nvPr/>
        </p:nvSpPr>
        <p:spPr>
          <a:xfrm>
            <a:off x="1041400" y="1519535"/>
            <a:ext cx="6096000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Boas Práticas</a:t>
            </a:r>
          </a:p>
          <a:p>
            <a:pPr>
              <a:lnSpc>
                <a:spcPct val="150000"/>
              </a:lnSpc>
            </a:pPr>
            <a:endParaRPr lang="pt-B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Validar parâmetros recebidos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Tratar erros e desconexões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Usar JSON para padronização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Evitar delay() em funções críticas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Modularizar código para manutenção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D19CCDB-06E8-C293-632B-6DFA2259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5691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16B2026-0F2C-073C-887F-4C2E6278AA49}"/>
              </a:ext>
            </a:extLst>
          </p:cNvPr>
          <p:cNvSpPr txBox="1"/>
          <p:nvPr/>
        </p:nvSpPr>
        <p:spPr>
          <a:xfrm>
            <a:off x="1134534" y="1270969"/>
            <a:ext cx="609600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Próximos Passos</a:t>
            </a:r>
          </a:p>
          <a:p>
            <a:pPr>
              <a:lnSpc>
                <a:spcPct val="150000"/>
              </a:lnSpc>
            </a:pPr>
            <a:endParaRPr lang="pt-B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Adicionar mais sensores (LDR, MQ-2, etc.)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Criar aplicação web ou app móvel consumindo a API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Introduzir autenticação e segurança (token)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Log de dados em servidor externo ou banco de dados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70321CA-F933-1F65-EE6B-176987C4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API </a:t>
            </a:r>
            <a:r>
              <a:rPr lang="pt-BR" dirty="0" err="1"/>
              <a:t>Rest</a:t>
            </a:r>
            <a:br>
              <a:rPr lang="pt-BR" dirty="0"/>
            </a:br>
            <a:r>
              <a:rPr lang="pt-BR" sz="2000" dirty="0"/>
              <a:t>API REST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9210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17147</TotalTime>
  <Words>525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Open Sans Light</vt:lpstr>
      <vt:lpstr>Tema do Office</vt:lpstr>
      <vt:lpstr>Apresentação do PowerPoint</vt:lpstr>
      <vt:lpstr>Técnico em Desenvolvimento de Sistemas</vt:lpstr>
      <vt:lpstr>Técnico em Desenvolvimento de Sistemas</vt:lpstr>
      <vt:lpstr>         Introdução ao ESP32  Módulo 3 Protocolos de Comunicação WiFi Usando API Rest  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  <vt:lpstr>ESP32 – Comunicação de dados – API Rest API 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ESP32</dc:title>
  <dc:creator>Gerson Trindade</dc:creator>
  <cp:lastModifiedBy>Gerson Trindade</cp:lastModifiedBy>
  <cp:revision>55</cp:revision>
  <dcterms:created xsi:type="dcterms:W3CDTF">2024-03-06T19:24:45Z</dcterms:created>
  <dcterms:modified xsi:type="dcterms:W3CDTF">2025-09-03T22:02:59Z</dcterms:modified>
</cp:coreProperties>
</file>