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430" r:id="rId4"/>
    <p:sldId id="347" r:id="rId5"/>
    <p:sldId id="358" r:id="rId6"/>
    <p:sldId id="359" r:id="rId7"/>
    <p:sldId id="360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86" r:id="rId17"/>
    <p:sldId id="373" r:id="rId18"/>
    <p:sldId id="374" r:id="rId19"/>
    <p:sldId id="361" r:id="rId20"/>
    <p:sldId id="375" r:id="rId21"/>
    <p:sldId id="376" r:id="rId22"/>
    <p:sldId id="377" r:id="rId23"/>
    <p:sldId id="378" r:id="rId24"/>
    <p:sldId id="379" r:id="rId25"/>
    <p:sldId id="380" r:id="rId26"/>
    <p:sldId id="381" r:id="rId27"/>
    <p:sldId id="382" r:id="rId28"/>
    <p:sldId id="383" r:id="rId29"/>
    <p:sldId id="384" r:id="rId30"/>
    <p:sldId id="385" r:id="rId31"/>
    <p:sldId id="396" r:id="rId32"/>
    <p:sldId id="397" r:id="rId33"/>
    <p:sldId id="388" r:id="rId34"/>
    <p:sldId id="390" r:id="rId35"/>
    <p:sldId id="393" r:id="rId36"/>
    <p:sldId id="394" r:id="rId37"/>
    <p:sldId id="395" r:id="rId38"/>
    <p:sldId id="348" r:id="rId39"/>
    <p:sldId id="349" r:id="rId40"/>
    <p:sldId id="350" r:id="rId41"/>
    <p:sldId id="351" r:id="rId42"/>
    <p:sldId id="352" r:id="rId43"/>
    <p:sldId id="353" r:id="rId44"/>
    <p:sldId id="354" r:id="rId45"/>
    <p:sldId id="355" r:id="rId46"/>
    <p:sldId id="356" r:id="rId47"/>
    <p:sldId id="357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65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04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77F12-8EE0-8E50-6ECB-D38E56DE7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3CD66B-EDC8-3ED5-A1CF-B2E400FD8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FE579-A359-287A-A837-B13A236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5D2A1A-D7B2-4AD7-8D7C-2C544DD5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37BF57-3315-A5F8-1EF8-8749563E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523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82C14-CD9A-DC61-A5AE-D1E0CA40D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822F9D-C50F-9596-F1CA-DB8B54B0E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BBB9C8-608B-26F4-A3AF-BB65E8C5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833CA5-494F-CD2E-E2B6-81505B49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225F60-DE34-6DE7-7933-68E069A1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785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9437C-127F-F641-27E8-5D55BBF18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108DD9-6797-0C6D-43C0-75A74095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61D9AA-2158-ACF0-58CC-53312898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27F800-7CE1-F471-4B19-51359988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DDFCC5-95CA-550A-1D92-0473EC0B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82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4F8A-C340-D25A-3307-AC036893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9CA43-91C9-5FFF-AF5E-D2D22B338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6EE5E7-7BAF-2D22-98C0-0138689B4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A7F4DA-4FCE-F500-8E3F-23E6D11DD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324529-3F06-24C4-2079-3151D342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4DB876-1C4E-2E00-4545-1D7B84D9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49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1E15C-B7CD-4112-3E10-11E0AD93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963B4F-F9B7-0B27-C4A4-482FD1E45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F24E23-E25E-FB19-A025-55E4C5ADC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BCCDF7-D0B2-2CEE-925D-375002946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6B96BFB-0597-2899-0A5B-601FC0479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570746-AA74-6E87-5C77-3CFEBBD4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89DD85-1609-6018-E4DE-F96792C9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CAA0A08-5A31-13C0-DEB1-92742DC9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75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BBD8C-CB28-6CED-A850-4F28C2DC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E66B48-CDA4-5812-843E-D58A5B38F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5CD797-ABFE-7C45-3E1B-CE79B0B9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C3D140-F6A3-3C9D-0A61-036BC378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82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1463AE-71D0-FBCE-E22E-BFC81E1F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9416B0-09A0-C4C3-9B59-ABFF6C6CF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4AE6C0-B075-BF69-768C-380DC573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696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D2DB4-DFDD-D2C7-1B39-DFA9F05B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3A33A0-F3CB-BCF4-AE5C-79B340DC9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3052FA-6508-FD7F-2B3C-549733B16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25367E-EAEA-005B-953F-2DE90841F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0F1F40-6DED-1D3F-93C8-E7DA5DC26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02AB35-1110-7E25-5B15-0BEF75D8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630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E4397-122B-6FA3-E200-70E0FBD1D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8D91E8-2EE6-4961-D979-5081A134E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18ECCB-3E03-7281-F88B-C514532B3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96043D-DB25-6668-04C2-1B559B83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EAEDF7-3D4B-6FD9-76D4-47ACB343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AF269A-CCDB-77A1-DCAF-E90B7C4C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4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18F72-92EC-9E4B-EB63-4F588951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C1D420-27A1-4694-9E7D-59889B3BD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F7909A-0877-D744-8345-1990B66D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F2BFE1-194E-BD80-742F-90624BFF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AFB879-1851-C773-6C0E-83B23D16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93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72EE07-858A-8227-1D24-397353224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227C95-1CB3-172B-9AF5-88FD91BA4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063B77-57DB-05D7-D74F-02EBA389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C777C8-A372-3932-DB99-E111D87D0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395311-C9DA-BE06-10E2-B72F25CB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577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[CT] Capa seçã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DE81F09-77C8-8AF0-5309-80196C62291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819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CT] Slide de título">
  <p:cSld name="[CT] Slide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474C6420-A105-4A9E-900E-0BE918E53A22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Google Shape;12;p3">
            <a:extLst>
              <a:ext uri="{FF2B5EF4-FFF2-40B4-BE49-F238E27FC236}">
                <a16:creationId xmlns:a16="http://schemas.microsoft.com/office/drawing/2014/main" id="{CEB2130B-4070-CED1-DDE7-819F542A075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92833" y="960000"/>
            <a:ext cx="4326400" cy="20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9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3" name="Google Shape;13;p3">
            <a:extLst>
              <a:ext uri="{FF2B5EF4-FFF2-40B4-BE49-F238E27FC236}">
                <a16:creationId xmlns:a16="http://schemas.microsoft.com/office/drawing/2014/main" id="{871B8210-007B-E15F-BD9F-610FFA7BAF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92833" y="3418333"/>
            <a:ext cx="3808400" cy="29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 b="1">
                <a:solidFill>
                  <a:srgbClr val="FFFFFF"/>
                </a:solidFill>
                <a:latin typeface="Open Sans Light" panose="00000400000000000000" pitchFamily="2" charset="0"/>
                <a:ea typeface="Open Sans Light" panose="00000400000000000000" pitchFamily="2" charset="0"/>
                <a:cs typeface="Open Sans Light" panose="00000400000000000000" pitchFamily="2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128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05DD460-A6E3-4CD0-BC45-69DA3306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B261D1-5E1A-A1CA-50B6-8005BC048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ADB802-9D30-E343-B18C-CC86F0C40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5C1EE-88D3-48B5-A10B-D0BEBC52651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B69B10-818D-5F86-A4A1-572292535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E91260-D1CE-234F-8EF1-6C6978901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70ADC-F16B-4F24-92DE-CDCFD87F3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41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DE623-C3E1-33FE-7D53-E07BA4540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9224" y="1157224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916945-07C5-AE4B-36F4-5F34ADDB4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9224" y="3418333"/>
            <a:ext cx="5122921" cy="2933200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90F59656-152D-A34A-5580-73AD5801B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81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CCE3-E0A2-2679-9830-89AA0063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5E163-F368-8F03-864D-9727B0107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9645" y="379182"/>
            <a:ext cx="4489312" cy="2016000"/>
          </a:xfrm>
        </p:spPr>
        <p:txBody>
          <a:bodyPr/>
          <a:lstStyle/>
          <a:p>
            <a:r>
              <a:rPr lang="pt-BR" dirty="0"/>
              <a:t>Técnico em Desenvolvimento de Sistemas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69B7A0-ADDB-CDDE-C5A8-B2D54A181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45" y="2503932"/>
            <a:ext cx="5122921" cy="3974885"/>
          </a:xfrm>
        </p:spPr>
        <p:txBody>
          <a:bodyPr/>
          <a:lstStyle/>
          <a:p>
            <a:r>
              <a:rPr lang="pt-BR" dirty="0"/>
              <a:t>Unidade curricular:</a:t>
            </a:r>
          </a:p>
          <a:p>
            <a:r>
              <a:rPr lang="pt-BR" dirty="0"/>
              <a:t>Internet das Coisas</a:t>
            </a:r>
          </a:p>
          <a:p>
            <a:endParaRPr lang="pt-BR" dirty="0"/>
          </a:p>
          <a:p>
            <a:r>
              <a:rPr lang="pt-BR" dirty="0"/>
              <a:t>Aula 09: 4 horas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Protocolos de Comunicação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Comunicação </a:t>
            </a:r>
            <a:r>
              <a:rPr lang="pt-BR" sz="1600" dirty="0" err="1">
                <a:solidFill>
                  <a:schemeClr val="tx1"/>
                </a:solidFill>
              </a:rPr>
              <a:t>BlueTooth</a:t>
            </a:r>
            <a:r>
              <a:rPr lang="pt-BR" sz="1600" dirty="0">
                <a:solidFill>
                  <a:schemeClr val="tx1"/>
                </a:solidFill>
              </a:rPr>
              <a:t> com o ESP32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endParaRPr lang="pt-BR" dirty="0"/>
          </a:p>
        </p:txBody>
      </p:sp>
      <p:pic>
        <p:nvPicPr>
          <p:cNvPr id="1026" name="Picture 2" descr="Graduação - Portal do IFSC">
            <a:extLst>
              <a:ext uri="{FF2B5EF4-FFF2-40B4-BE49-F238E27FC236}">
                <a16:creationId xmlns:a16="http://schemas.microsoft.com/office/drawing/2014/main" id="{B73DB14A-CDD9-C378-78B0-4E0D22042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111" y="2608727"/>
            <a:ext cx="3931198" cy="2015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86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mparação Entre Protocolos de Comunicação Serial - Tutoriais - RoboCore">
            <a:extLst>
              <a:ext uri="{FF2B5EF4-FFF2-40B4-BE49-F238E27FC236}">
                <a16:creationId xmlns:a16="http://schemas.microsoft.com/office/drawing/2014/main" id="{076A289A-8B7E-127B-081B-79FAA29A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298310"/>
            <a:ext cx="3810000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lustração de comunicação do ícone bluetooth | Vetor Premium">
            <a:extLst>
              <a:ext uri="{FF2B5EF4-FFF2-40B4-BE49-F238E27FC236}">
                <a16:creationId xmlns:a16="http://schemas.microsoft.com/office/drawing/2014/main" id="{1CD22AB6-8EA9-C07E-12DD-AD310236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9589" y="1528762"/>
            <a:ext cx="2117725" cy="211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uia de configuração da rede EDUROAM — IFRN - Instituto Federal do Rio  Grande do Norte">
            <a:extLst>
              <a:ext uri="{FF2B5EF4-FFF2-40B4-BE49-F238E27FC236}">
                <a16:creationId xmlns:a16="http://schemas.microsoft.com/office/drawing/2014/main" id="{D007F543-2AD9-A08F-A6DB-87E01F94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2" y="4635765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SP32: Detalhes internos e pinagem - Fernando K Tecnologia">
            <a:extLst>
              <a:ext uri="{FF2B5EF4-FFF2-40B4-BE49-F238E27FC236}">
                <a16:creationId xmlns:a16="http://schemas.microsoft.com/office/drawing/2014/main" id="{464D7BF0-9FC6-79F0-4427-175C1374C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898" y="1285610"/>
            <a:ext cx="50673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50636E9-2F09-EBDA-B2ED-77D88E37A60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516DEB-0410-4165-008C-0E85E4D8B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08000"/>
            <a:ext cx="12192000" cy="6858000"/>
          </a:xfrm>
        </p:spPr>
        <p:txBody>
          <a:bodyPr>
            <a:normAutofit fontScale="90000"/>
          </a:bodyPr>
          <a:lstStyle/>
          <a:p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br>
              <a:rPr lang="pt-BR" sz="8800" b="1" dirty="0"/>
            </a:br>
            <a:r>
              <a:rPr lang="pt-BR" sz="8000" b="1" dirty="0">
                <a:solidFill>
                  <a:schemeClr val="bg1"/>
                </a:solidFill>
              </a:rPr>
              <a:t>Introdução ao ESP32</a:t>
            </a:r>
            <a:br>
              <a:rPr lang="pt-BR" sz="8000" b="1" dirty="0">
                <a:solidFill>
                  <a:schemeClr val="bg1"/>
                </a:solidFill>
              </a:rPr>
            </a:br>
            <a:br>
              <a:rPr lang="pt-BR" sz="80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Módulo 3</a:t>
            </a:r>
            <a:br>
              <a:rPr lang="pt-BR" sz="31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Protocolos de Comunicação</a:t>
            </a:r>
            <a:br>
              <a:rPr lang="pt-BR" sz="3100" b="1" dirty="0">
                <a:solidFill>
                  <a:schemeClr val="bg1"/>
                </a:solidFill>
              </a:rPr>
            </a:br>
            <a:r>
              <a:rPr lang="pt-BR" sz="3100" b="1" dirty="0">
                <a:solidFill>
                  <a:schemeClr val="bg1"/>
                </a:solidFill>
              </a:rPr>
              <a:t>WiFi</a:t>
            </a:r>
            <a:br>
              <a:rPr lang="pt-BR" sz="3100" b="1" dirty="0">
                <a:solidFill>
                  <a:schemeClr val="bg1"/>
                </a:solidFill>
              </a:rPr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988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rektverbindung zwischen Wi-Fi-Geräten kommt | Mac Life">
            <a:extLst>
              <a:ext uri="{FF2B5EF4-FFF2-40B4-BE49-F238E27FC236}">
                <a16:creationId xmlns:a16="http://schemas.microsoft.com/office/drawing/2014/main" id="{0D8CFCC5-4F37-C6BE-E595-156183B79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914" y="3352799"/>
            <a:ext cx="6184171" cy="323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33E6F911-B0B3-03C8-5B5D-966718A6236B}"/>
              </a:ext>
            </a:extLst>
          </p:cNvPr>
          <p:cNvSpPr txBox="1">
            <a:spLocks/>
          </p:cNvSpPr>
          <p:nvPr/>
        </p:nvSpPr>
        <p:spPr>
          <a:xfrm>
            <a:off x="1363133" y="846667"/>
            <a:ext cx="9465734" cy="459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8200" b="1" dirty="0"/>
              <a:t>Comunicação WiFi</a:t>
            </a:r>
            <a:br>
              <a:rPr lang="pt-BR" sz="2800" b="1" dirty="0"/>
            </a:br>
            <a:br>
              <a:rPr lang="pt-BR" sz="2800" b="1" dirty="0"/>
            </a:b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05901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endParaRPr lang="pt-B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67C0B-C411-2AFF-1832-205AA17F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11280078" cy="4954504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A conexão wireless é, sem dúvidas, um dos principais motivos para diversos entusiastas da eletrônica utilizar o ESP32 </a:t>
            </a:r>
            <a:r>
              <a:rPr lang="pt-BR" sz="2000" dirty="0" err="1"/>
              <a:t>Wifi</a:t>
            </a:r>
            <a:r>
              <a:rPr lang="pt-BR" sz="2000" dirty="0"/>
              <a:t> em seus projetos. Ainda, devido ao seu baixo custo e grande abrangência de aplicação, esse módulo recebe um enfoque especial em aplicações da Internet </a:t>
            </a:r>
            <a:r>
              <a:rPr lang="pt-BR" sz="2000" dirty="0" err="1"/>
              <a:t>of</a:t>
            </a:r>
            <a:r>
              <a:rPr lang="pt-BR" sz="2000" dirty="0"/>
              <a:t> </a:t>
            </a:r>
            <a:r>
              <a:rPr lang="pt-BR" sz="2000" dirty="0" err="1"/>
              <a:t>Things</a:t>
            </a:r>
            <a:r>
              <a:rPr lang="pt-BR" sz="2000" dirty="0"/>
              <a:t> – IoT. Tendo isso em vista, aprenderemos, neste experimento, a utilizar a biblioteca WiFi.</a:t>
            </a:r>
          </a:p>
          <a:p>
            <a:pPr marL="0" indent="0">
              <a:lnSpc>
                <a:spcPct val="160000"/>
              </a:lnSpc>
              <a:buNone/>
            </a:pPr>
            <a:endParaRPr lang="pt-BR" sz="2000" dirty="0"/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 err="1"/>
              <a:t>Wifi.h</a:t>
            </a:r>
            <a:endParaRPr lang="pt-BR" sz="2000" dirty="0"/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Essa biblioteca, que já vem instalada na biblioteca do Arduino, fornece diversas funções. Estudaremos algumas delas, através de exemplos, para que possamos desenvolver projetos básicos. O principal objetivo é auxiliar o aluno a iniciar a programação referente a comunicação WiFi.</a:t>
            </a:r>
          </a:p>
        </p:txBody>
      </p:sp>
    </p:spTree>
    <p:extLst>
      <p:ext uri="{BB962C8B-B14F-4D97-AF65-F5344CB8AC3E}">
        <p14:creationId xmlns:p14="http://schemas.microsoft.com/office/powerpoint/2010/main" val="219220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1 - ESP32 </a:t>
            </a:r>
            <a:r>
              <a:rPr lang="pt-BR" sz="2000" dirty="0" err="1"/>
              <a:t>Wifi</a:t>
            </a:r>
            <a:r>
              <a:rPr lang="pt-BR" sz="2000" dirty="0"/>
              <a:t> conectando-se a uma rede WiFi</a:t>
            </a:r>
            <a:endParaRPr lang="pt-BR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BB8A28-A0B3-8205-66F9-E7BB61CED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61" y="1349477"/>
            <a:ext cx="11280078" cy="586899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Primeiramente, precisamos incluir a biblioteca. Para isso, utilize o comando: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EBEB53-227E-3CBB-15E8-C1D0FE9D9F9F}"/>
              </a:ext>
            </a:extLst>
          </p:cNvPr>
          <p:cNvSpPr txBox="1"/>
          <p:nvPr/>
        </p:nvSpPr>
        <p:spPr>
          <a:xfrm>
            <a:off x="455961" y="2058303"/>
            <a:ext cx="6217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B85C00"/>
                </a:solidFill>
                <a:effectLst/>
                <a:latin typeface="Monaco"/>
              </a:rPr>
              <a:t>#include &lt;</a:t>
            </a:r>
            <a:r>
              <a:rPr lang="pt-BR" b="0" i="0" dirty="0" err="1">
                <a:solidFill>
                  <a:srgbClr val="B85C00"/>
                </a:solidFill>
                <a:effectLst/>
                <a:latin typeface="Monaco"/>
              </a:rPr>
              <a:t>WiFi.h</a:t>
            </a:r>
            <a:r>
              <a:rPr lang="pt-BR" b="0" i="0" dirty="0">
                <a:solidFill>
                  <a:srgbClr val="B85C00"/>
                </a:solidFill>
                <a:effectLst/>
                <a:latin typeface="Monaco"/>
              </a:rPr>
              <a:t>&gt;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38A6EA-D97B-1399-2F21-A23395F5F3DD}"/>
              </a:ext>
            </a:extLst>
          </p:cNvPr>
          <p:cNvSpPr txBox="1">
            <a:spLocks/>
          </p:cNvSpPr>
          <p:nvPr/>
        </p:nvSpPr>
        <p:spPr>
          <a:xfrm>
            <a:off x="455961" y="2673263"/>
            <a:ext cx="11280078" cy="1520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Feito isso, vamos criar duas constantes para armazenar o nome e a senha da rede a qual você irá se conectar. Para isso, substitua o conteúdo que está dentro das aspas pelo nome e senha da sua rede, conforme o código abaixo.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EF3638-F900-CF63-59F3-E979DAFF2A8C}"/>
              </a:ext>
            </a:extLst>
          </p:cNvPr>
          <p:cNvSpPr txBox="1"/>
          <p:nvPr/>
        </p:nvSpPr>
        <p:spPr>
          <a:xfrm>
            <a:off x="455961" y="4439313"/>
            <a:ext cx="6217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const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800080"/>
                </a:solidFill>
                <a:effectLst/>
                <a:latin typeface="inherit"/>
              </a:rPr>
              <a:t>char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* 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ssid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= 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</a:t>
            </a:r>
            <a:r>
              <a:rPr lang="pt-BR" b="0" i="0" dirty="0" err="1">
                <a:solidFill>
                  <a:srgbClr val="008000"/>
                </a:solidFill>
                <a:effectLst/>
                <a:latin typeface="inherit"/>
              </a:rPr>
              <a:t>nome_da_rede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const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800080"/>
                </a:solidFill>
                <a:effectLst/>
                <a:latin typeface="inherit"/>
              </a:rPr>
              <a:t>char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* 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password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=  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</a:t>
            </a:r>
            <a:r>
              <a:rPr lang="pt-BR" b="0" i="0" dirty="0" err="1">
                <a:solidFill>
                  <a:srgbClr val="008000"/>
                </a:solidFill>
                <a:effectLst/>
                <a:latin typeface="inherit"/>
              </a:rPr>
              <a:t>senha_da_rede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486999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1 - ESP32 </a:t>
            </a:r>
            <a:r>
              <a:rPr lang="pt-BR" sz="2000" dirty="0" err="1"/>
              <a:t>Wifi</a:t>
            </a:r>
            <a:r>
              <a:rPr lang="pt-BR" sz="2000" dirty="0"/>
              <a:t> conectando-se a uma rede WiFi</a:t>
            </a:r>
            <a:endParaRPr lang="pt-BR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BB8A28-A0B3-8205-66F9-E7BB61CED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61" y="1349477"/>
            <a:ext cx="11280078" cy="586899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Em seguida, no </a:t>
            </a:r>
            <a:r>
              <a:rPr lang="pt-BR" sz="2000" dirty="0" err="1"/>
              <a:t>void</a:t>
            </a:r>
            <a:r>
              <a:rPr lang="pt-BR" sz="2000" dirty="0"/>
              <a:t> setup, faremos a inicialização da comunicação Serial e da comunicação WiFi.</a:t>
            </a:r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6C5D1A8D-6B74-9607-56D8-B9597D25B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126781"/>
              </p:ext>
            </p:extLst>
          </p:nvPr>
        </p:nvGraphicFramePr>
        <p:xfrm>
          <a:off x="503909" y="2139554"/>
          <a:ext cx="6359599" cy="3749040"/>
        </p:xfrm>
        <a:graphic>
          <a:graphicData uri="http://schemas.openxmlformats.org/drawingml/2006/table">
            <a:tbl>
              <a:tblPr/>
              <a:tblGrid>
                <a:gridCol w="460429">
                  <a:extLst>
                    <a:ext uri="{9D8B030D-6E8A-4147-A177-3AD203B41FA5}">
                      <a16:colId xmlns:a16="http://schemas.microsoft.com/office/drawing/2014/main" val="1714040190"/>
                    </a:ext>
                  </a:extLst>
                </a:gridCol>
                <a:gridCol w="5899170">
                  <a:extLst>
                    <a:ext uri="{9D8B030D-6E8A-4147-A177-3AD203B41FA5}">
                      <a16:colId xmlns:a16="http://schemas.microsoft.com/office/drawing/2014/main" val="95367741"/>
                    </a:ext>
                  </a:extLst>
                </a:gridCol>
              </a:tblGrid>
              <a:tr h="2510649">
                <a:tc>
                  <a:txBody>
                    <a:bodyPr/>
                    <a:lstStyle/>
                    <a:p>
                      <a:pPr algn="ctr" fontAlgn="base"/>
                      <a:r>
                        <a:rPr lang="pt-BR" dirty="0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1</a:t>
                      </a:r>
                    </a:p>
                    <a:p>
                      <a:pPr algn="ctr" fontAlgn="base"/>
                      <a:r>
                        <a:rPr lang="pt-BR" dirty="0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2</a:t>
                      </a:r>
                    </a:p>
                    <a:p>
                      <a:pPr algn="ctr" fontAlgn="base"/>
                      <a:r>
                        <a:rPr lang="pt-BR" dirty="0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3</a:t>
                      </a:r>
                    </a:p>
                    <a:p>
                      <a:pPr algn="ctr" fontAlgn="base"/>
                      <a:r>
                        <a:rPr lang="pt-BR" dirty="0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4</a:t>
                      </a:r>
                    </a:p>
                    <a:p>
                      <a:pPr algn="ctr" fontAlgn="base"/>
                      <a:r>
                        <a:rPr lang="pt-BR" dirty="0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5</a:t>
                      </a:r>
                    </a:p>
                    <a:p>
                      <a:pPr algn="ctr" fontAlgn="base"/>
                      <a:r>
                        <a:rPr lang="pt-BR" dirty="0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6</a:t>
                      </a:r>
                    </a:p>
                    <a:p>
                      <a:pPr algn="ctr" fontAlgn="base"/>
                      <a:r>
                        <a:rPr lang="pt-BR" dirty="0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7</a:t>
                      </a:r>
                    </a:p>
                    <a:p>
                      <a:pPr algn="ctr" fontAlgn="base"/>
                      <a:r>
                        <a:rPr lang="pt-BR" dirty="0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8</a:t>
                      </a:r>
                    </a:p>
                    <a:p>
                      <a:pPr algn="ctr" fontAlgn="base"/>
                      <a:r>
                        <a:rPr lang="pt-BR" dirty="0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9</a:t>
                      </a:r>
                    </a:p>
                    <a:p>
                      <a:pPr algn="ctr" fontAlgn="base"/>
                      <a:r>
                        <a:rPr lang="pt-BR" dirty="0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10</a:t>
                      </a:r>
                    </a:p>
                    <a:p>
                      <a:pPr algn="ctr" fontAlgn="base"/>
                      <a:r>
                        <a:rPr lang="pt-BR" dirty="0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11</a:t>
                      </a:r>
                    </a:p>
                    <a:p>
                      <a:pPr algn="ctr" fontAlgn="base"/>
                      <a:r>
                        <a:rPr lang="pt-BR" dirty="0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12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pt-BR" dirty="0" err="1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void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pt-BR" dirty="0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setup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()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{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	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Serial</a:t>
                      </a:r>
                      <a:r>
                        <a:rPr lang="pt-BR" dirty="0" err="1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.</a:t>
                      </a:r>
                      <a:r>
                        <a:rPr lang="pt-BR" dirty="0" err="1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begin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pt-BR" dirty="0">
                          <a:solidFill>
                            <a:srgbClr val="CE0000"/>
                          </a:solidFill>
                          <a:effectLst/>
                          <a:latin typeface="inherit"/>
                        </a:rPr>
                        <a:t>115200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);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	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WiFi</a:t>
                      </a:r>
                      <a:r>
                        <a:rPr lang="pt-BR" dirty="0" err="1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.</a:t>
                      </a:r>
                      <a:r>
                        <a:rPr lang="pt-BR" dirty="0" err="1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begin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ssid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,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password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);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</a:p>
                    <a:p>
                      <a:pPr algn="l" fontAlgn="base"/>
                      <a:r>
                        <a:rPr lang="pt-BR" dirty="0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	</a:t>
                      </a:r>
                      <a:r>
                        <a:rPr lang="pt-BR" dirty="0" err="1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while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WiFi</a:t>
                      </a:r>
                      <a:r>
                        <a:rPr lang="pt-BR" dirty="0" err="1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.</a:t>
                      </a:r>
                      <a:r>
                        <a:rPr lang="pt-BR" dirty="0" err="1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status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()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!= </a:t>
                      </a:r>
                      <a:r>
                        <a:rPr lang="pt-BR" dirty="0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WL_CONNECTED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)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{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  		</a:t>
                      </a:r>
                      <a:r>
                        <a:rPr lang="pt-BR" dirty="0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delay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pt-BR" dirty="0">
                          <a:solidFill>
                            <a:srgbClr val="CE0000"/>
                          </a:solidFill>
                          <a:effectLst/>
                          <a:latin typeface="inherit"/>
                        </a:rPr>
                        <a:t>500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);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  		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Serial</a:t>
                      </a:r>
                      <a:r>
                        <a:rPr lang="pt-BR" dirty="0" err="1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.</a:t>
                      </a:r>
                      <a:r>
                        <a:rPr lang="pt-BR" dirty="0" err="1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println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pt-BR" dirty="0">
                          <a:solidFill>
                            <a:srgbClr val="008000"/>
                          </a:solidFill>
                          <a:effectLst/>
                          <a:latin typeface="inherit"/>
                        </a:rPr>
                        <a:t>"Conectando ao WiFi.."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);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	}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	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Serial</a:t>
                      </a:r>
                      <a:r>
                        <a:rPr lang="pt-BR" dirty="0" err="1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.</a:t>
                      </a:r>
                      <a:r>
                        <a:rPr lang="pt-BR" dirty="0" err="1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println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pt-BR" dirty="0">
                          <a:solidFill>
                            <a:srgbClr val="008000"/>
                          </a:solidFill>
                          <a:effectLst/>
                          <a:latin typeface="inherit"/>
                        </a:rPr>
                        <a:t>"Conectado a rede WiFi."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);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}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128586"/>
                  </a:ext>
                </a:extLst>
              </a:tr>
              <a:tr h="271422">
                <a:tc>
                  <a:txBody>
                    <a:bodyPr/>
                    <a:lstStyle/>
                    <a:p>
                      <a:pPr algn="ctr" fontAlgn="base"/>
                      <a:endParaRPr lang="pt-BR" dirty="0">
                        <a:solidFill>
                          <a:srgbClr val="317CC5"/>
                        </a:solidFill>
                        <a:effectLst/>
                        <a:latin typeface="inheri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523145"/>
                  </a:ext>
                </a:extLst>
              </a:tr>
            </a:tbl>
          </a:graphicData>
        </a:graphic>
      </p:graphicFrame>
      <p:sp>
        <p:nvSpPr>
          <p:cNvPr id="20" name="Rectangle 3">
            <a:extLst>
              <a:ext uri="{FF2B5EF4-FFF2-40B4-BE49-F238E27FC236}">
                <a16:creationId xmlns:a16="http://schemas.microsoft.com/office/drawing/2014/main" id="{C172FD8A-3470-EC1E-4EB3-4FB4DC9F1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1898650"/>
            <a:ext cx="152400" cy="0"/>
          </a:xfrm>
          <a:prstGeom prst="rect">
            <a:avLst/>
          </a:prstGeom>
          <a:solidFill>
            <a:srgbClr val="BCBCB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inherit"/>
              </a:rPr>
            </a:br>
            <a:endParaRPr kumimoji="0" lang="pt-BR" altLang="pt-BR" sz="9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2B24BBE0-6DE3-779D-1B74-7FCA4CE8E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1898650"/>
            <a:ext cx="12192000" cy="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9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inherit"/>
              </a:rPr>
              <a:t>C#</a:t>
            </a:r>
            <a:endParaRPr kumimoji="0" lang="pt-BR" altLang="pt-BR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CC79C47-33E9-69CB-E889-ACE6DF324142}"/>
              </a:ext>
            </a:extLst>
          </p:cNvPr>
          <p:cNvSpPr txBox="1"/>
          <p:nvPr/>
        </p:nvSpPr>
        <p:spPr>
          <a:xfrm>
            <a:off x="6984694" y="2139554"/>
            <a:ext cx="4751345" cy="4116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dirty="0"/>
              <a:t>Na linha 5 encontra-se a função </a:t>
            </a:r>
            <a:r>
              <a:rPr lang="pt-BR" sz="1600" dirty="0" err="1"/>
              <a:t>WiFi.status</a:t>
            </a:r>
            <a:r>
              <a:rPr lang="pt-BR" sz="1600" dirty="0"/>
              <a:t>(), que retorna uma constate informando se houve problema de conexão ou não. Ela está dentro de uma estrutura de repetição, </a:t>
            </a:r>
            <a:r>
              <a:rPr lang="pt-BR" sz="1600" dirty="0" err="1"/>
              <a:t>while</a:t>
            </a:r>
            <a:r>
              <a:rPr lang="pt-BR" sz="1600" dirty="0"/>
              <a:t>, que verifica se o status é de conectado (WL_CONNECTED). Se não for, então haverá um tempo de meio segundo e a verificação irá se repetir. Caso você tenha inserido algum </a:t>
            </a:r>
            <a:r>
              <a:rPr lang="pt-BR" sz="1600" dirty="0" err="1"/>
              <a:t>caracter</a:t>
            </a:r>
            <a:r>
              <a:rPr lang="pt-BR" sz="1600" dirty="0"/>
              <a:t> errado no nome da rede e na senha, o seu código ficará mostrando apenas “</a:t>
            </a:r>
            <a:r>
              <a:rPr lang="pt-BR" sz="1600" dirty="0" err="1"/>
              <a:t>Connecting</a:t>
            </a:r>
            <a:r>
              <a:rPr lang="pt-BR" sz="1600" dirty="0"/>
              <a:t> </a:t>
            </a:r>
            <a:r>
              <a:rPr lang="pt-BR" sz="1600" dirty="0" err="1"/>
              <a:t>to</a:t>
            </a:r>
            <a:r>
              <a:rPr lang="pt-BR" sz="1600" dirty="0"/>
              <a:t> WiFi..”.</a:t>
            </a:r>
          </a:p>
          <a:p>
            <a:pPr>
              <a:lnSpc>
                <a:spcPct val="150000"/>
              </a:lnSpc>
            </a:pPr>
            <a:r>
              <a:rPr lang="pt-BR" sz="1600" dirty="0"/>
              <a:t>Assim que a ESP32 conectar-se, será exibido no monitor serial a mensagem “Conectado a rede WiFi.”.</a:t>
            </a:r>
          </a:p>
        </p:txBody>
      </p:sp>
    </p:spTree>
    <p:extLst>
      <p:ext uri="{BB962C8B-B14F-4D97-AF65-F5344CB8AC3E}">
        <p14:creationId xmlns:p14="http://schemas.microsoft.com/office/powerpoint/2010/main" val="154804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1 - ESP32 </a:t>
            </a:r>
            <a:r>
              <a:rPr lang="pt-BR" sz="2000" dirty="0" err="1"/>
              <a:t>Wifi</a:t>
            </a:r>
            <a:r>
              <a:rPr lang="pt-BR" sz="2000" dirty="0"/>
              <a:t> conectando-se a uma rede WiFi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38A6EA-D97B-1399-2F21-A23395F5F3DD}"/>
              </a:ext>
            </a:extLst>
          </p:cNvPr>
          <p:cNvSpPr txBox="1">
            <a:spLocks/>
          </p:cNvSpPr>
          <p:nvPr/>
        </p:nvSpPr>
        <p:spPr>
          <a:xfrm>
            <a:off x="455961" y="1350073"/>
            <a:ext cx="11280078" cy="3006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 err="1"/>
              <a:t>WiFi.begin</a:t>
            </a:r>
            <a:r>
              <a:rPr lang="pt-BR" sz="2000" dirty="0"/>
              <a:t>()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Essa função é necessária para que a placa se conecte a rede WiFi. Seu uso normalmente acontece com a passagem de dois parâmetros para a função, o nome e senha da rede. Ela pode também ser usada sem eles, conforme uma explicação detalhada pode ser encontrada na referência da linguagem. Além disso, é possível também usá-la passando como parâmetro apenas o nome da rede, </a:t>
            </a:r>
            <a:r>
              <a:rPr lang="pt-BR" sz="2000" dirty="0" err="1"/>
              <a:t>ssid</a:t>
            </a:r>
            <a:r>
              <a:rPr lang="pt-BR" sz="2000" dirty="0"/>
              <a:t>, para redes sem senha.</a:t>
            </a:r>
          </a:p>
        </p:txBody>
      </p:sp>
    </p:spTree>
    <p:extLst>
      <p:ext uri="{BB962C8B-B14F-4D97-AF65-F5344CB8AC3E}">
        <p14:creationId xmlns:p14="http://schemas.microsoft.com/office/powerpoint/2010/main" val="2430424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1 - ESP32 </a:t>
            </a:r>
            <a:r>
              <a:rPr lang="pt-BR" sz="2000" dirty="0" err="1"/>
              <a:t>Wifi</a:t>
            </a:r>
            <a:r>
              <a:rPr lang="pt-BR" sz="2000" dirty="0"/>
              <a:t> conectando-se a uma rede WiFi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38A6EA-D97B-1399-2F21-A23395F5F3DD}"/>
              </a:ext>
            </a:extLst>
          </p:cNvPr>
          <p:cNvSpPr txBox="1">
            <a:spLocks/>
          </p:cNvSpPr>
          <p:nvPr/>
        </p:nvSpPr>
        <p:spPr>
          <a:xfrm>
            <a:off x="455961" y="1350072"/>
            <a:ext cx="11280078" cy="5169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 err="1"/>
              <a:t>WiFi.status</a:t>
            </a:r>
            <a:r>
              <a:rPr lang="pt-BR" sz="2000" dirty="0"/>
              <a:t>()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Essa função pode retornar, além de “WL_CONNECTED” quando a placa estiver conectada a rede, algumas das seguintes constantes:</a:t>
            </a:r>
          </a:p>
          <a:p>
            <a:pPr>
              <a:lnSpc>
                <a:spcPct val="100000"/>
              </a:lnSpc>
            </a:pPr>
            <a:r>
              <a:rPr lang="pt-BR" sz="1800" dirty="0"/>
              <a:t>WL_NO_SSID_AVAIL: quando a rede não for encontrada.</a:t>
            </a:r>
          </a:p>
          <a:p>
            <a:pPr>
              <a:lnSpc>
                <a:spcPct val="100000"/>
              </a:lnSpc>
            </a:pPr>
            <a:r>
              <a:rPr lang="pt-BR" sz="1800" dirty="0"/>
              <a:t>WL_CONNECT_FAILED: quando as tentativas de conexão falharem.</a:t>
            </a:r>
          </a:p>
          <a:p>
            <a:pPr>
              <a:lnSpc>
                <a:spcPct val="100000"/>
              </a:lnSpc>
            </a:pPr>
            <a:r>
              <a:rPr lang="pt-BR" sz="1800" dirty="0"/>
              <a:t>WL_DISCONNECTED: quando ela estiver desconectada de uma rede.</a:t>
            </a:r>
          </a:p>
          <a:p>
            <a:pPr>
              <a:lnSpc>
                <a:spcPct val="100000"/>
              </a:lnSpc>
            </a:pPr>
            <a:r>
              <a:rPr lang="pt-BR" sz="1800" dirty="0"/>
              <a:t>WL_CONNECTION_LOST: quando a conexão for perdida ou interrompida (deixar de receber/enviar pacotes).</a:t>
            </a:r>
          </a:p>
          <a:p>
            <a:pPr>
              <a:lnSpc>
                <a:spcPct val="100000"/>
              </a:lnSpc>
            </a:pPr>
            <a:r>
              <a:rPr lang="pt-BR" sz="1800" dirty="0"/>
              <a:t>WL_IDLE_STATUS: quando está ou em processo de tentativas de conexão ou as tentativas de conexão atingiram um limite e não foi obtido êxito na conexão, ou seja, a WiFi está ativa mas não conectada.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Existem outras, também, que podem ser conferidas na referência da linguagem. As descritas acima são, entretanto, as mais comuns.</a:t>
            </a:r>
          </a:p>
        </p:txBody>
      </p:sp>
    </p:spTree>
    <p:extLst>
      <p:ext uri="{BB962C8B-B14F-4D97-AF65-F5344CB8AC3E}">
        <p14:creationId xmlns:p14="http://schemas.microsoft.com/office/powerpoint/2010/main" val="98145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2 - ESP32 </a:t>
            </a:r>
            <a:r>
              <a:rPr lang="pt-BR" sz="2000" dirty="0" err="1"/>
              <a:t>Wifi</a:t>
            </a:r>
            <a:r>
              <a:rPr lang="pt-BR" sz="2000" dirty="0"/>
              <a:t> obtendo o endereço MAC</a:t>
            </a:r>
            <a:endParaRPr lang="pt-BR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BB8A28-A0B3-8205-66F9-E7BB61CED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61" y="1349477"/>
            <a:ext cx="11280078" cy="1078157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Esse endereço é uma identificação única de um dispositivo de rede. É muito interessante, portanto, que saibamos o endereço das placas que usaremos. Observe o código abaixo.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38A6EA-D97B-1399-2F21-A23395F5F3DD}"/>
              </a:ext>
            </a:extLst>
          </p:cNvPr>
          <p:cNvSpPr txBox="1">
            <a:spLocks/>
          </p:cNvSpPr>
          <p:nvPr/>
        </p:nvSpPr>
        <p:spPr>
          <a:xfrm>
            <a:off x="455961" y="5516613"/>
            <a:ext cx="11280078" cy="752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Duas novas funções são executadas. Veremos elas em mais detalhes.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49D5C7C-34F2-88AC-3073-2C21E9517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757593"/>
              </p:ext>
            </p:extLst>
          </p:nvPr>
        </p:nvGraphicFramePr>
        <p:xfrm>
          <a:off x="578390" y="2544864"/>
          <a:ext cx="8170833" cy="2560320"/>
        </p:xfrm>
        <a:graphic>
          <a:graphicData uri="http://schemas.openxmlformats.org/drawingml/2006/table">
            <a:tbl>
              <a:tblPr/>
              <a:tblGrid>
                <a:gridCol w="270093">
                  <a:extLst>
                    <a:ext uri="{9D8B030D-6E8A-4147-A177-3AD203B41FA5}">
                      <a16:colId xmlns:a16="http://schemas.microsoft.com/office/drawing/2014/main" val="3356608658"/>
                    </a:ext>
                  </a:extLst>
                </a:gridCol>
                <a:gridCol w="7900740">
                  <a:extLst>
                    <a:ext uri="{9D8B030D-6E8A-4147-A177-3AD203B41FA5}">
                      <a16:colId xmlns:a16="http://schemas.microsoft.com/office/drawing/2014/main" val="29691025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pt-BR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1</a:t>
                      </a:r>
                    </a:p>
                    <a:p>
                      <a:pPr algn="ctr" fontAlgn="base"/>
                      <a:r>
                        <a:rPr lang="pt-BR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2</a:t>
                      </a:r>
                    </a:p>
                    <a:p>
                      <a:pPr algn="ctr" fontAlgn="base"/>
                      <a:r>
                        <a:rPr lang="pt-BR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3</a:t>
                      </a:r>
                    </a:p>
                    <a:p>
                      <a:pPr algn="ctr" fontAlgn="base"/>
                      <a:r>
                        <a:rPr lang="pt-BR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4</a:t>
                      </a:r>
                    </a:p>
                    <a:p>
                      <a:pPr algn="ctr" fontAlgn="base"/>
                      <a:r>
                        <a:rPr lang="pt-BR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5</a:t>
                      </a:r>
                    </a:p>
                    <a:p>
                      <a:pPr algn="ctr" fontAlgn="base"/>
                      <a:r>
                        <a:rPr lang="pt-BR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6</a:t>
                      </a:r>
                    </a:p>
                    <a:p>
                      <a:pPr algn="ctr" fontAlgn="base"/>
                      <a:r>
                        <a:rPr lang="pt-BR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7</a:t>
                      </a:r>
                    </a:p>
                    <a:p>
                      <a:pPr algn="ctr" fontAlgn="base"/>
                      <a:r>
                        <a:rPr lang="pt-BR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8</a:t>
                      </a:r>
                    </a:p>
                    <a:p>
                      <a:pPr algn="ctr" fontAlgn="base"/>
                      <a:r>
                        <a:rPr lang="pt-BR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9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pt-BR" dirty="0">
                          <a:solidFill>
                            <a:srgbClr val="B85C00"/>
                          </a:solidFill>
                          <a:effectLst/>
                          <a:latin typeface="inherit"/>
                        </a:rPr>
                        <a:t>#include &lt;</a:t>
                      </a:r>
                      <a:r>
                        <a:rPr lang="pt-BR" dirty="0" err="1">
                          <a:solidFill>
                            <a:srgbClr val="B85C00"/>
                          </a:solidFill>
                          <a:effectLst/>
                          <a:latin typeface="inherit"/>
                        </a:rPr>
                        <a:t>WiFi.h</a:t>
                      </a:r>
                      <a:r>
                        <a:rPr lang="pt-BR" dirty="0">
                          <a:solidFill>
                            <a:srgbClr val="B85C00"/>
                          </a:solidFill>
                          <a:effectLst/>
                          <a:latin typeface="inherit"/>
                        </a:rPr>
                        <a:t>&gt;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</a:p>
                    <a:p>
                      <a:pPr algn="l" fontAlgn="base"/>
                      <a:r>
                        <a:rPr lang="pt-BR" dirty="0" err="1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void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pt-BR" dirty="0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setup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(){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	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Serial</a:t>
                      </a:r>
                      <a:r>
                        <a:rPr lang="pt-BR" dirty="0" err="1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.</a:t>
                      </a:r>
                      <a:r>
                        <a:rPr lang="pt-BR" dirty="0" err="1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begin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pt-BR" dirty="0">
                          <a:solidFill>
                            <a:srgbClr val="CE0000"/>
                          </a:solidFill>
                          <a:effectLst/>
                          <a:latin typeface="inherit"/>
                        </a:rPr>
                        <a:t>115200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);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	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WiFi</a:t>
                      </a:r>
                      <a:r>
                        <a:rPr lang="pt-BR" dirty="0" err="1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.</a:t>
                      </a:r>
                      <a:r>
                        <a:rPr lang="pt-BR" dirty="0" err="1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mode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pt-BR" dirty="0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WIFI_MODE_STA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);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	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Serial</a:t>
                      </a:r>
                      <a:r>
                        <a:rPr lang="pt-BR" dirty="0" err="1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.</a:t>
                      </a:r>
                      <a:r>
                        <a:rPr lang="pt-BR" dirty="0" err="1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println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WiFi</a:t>
                      </a:r>
                      <a:r>
                        <a:rPr lang="pt-BR" dirty="0" err="1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.</a:t>
                      </a:r>
                      <a:r>
                        <a:rPr lang="pt-BR" dirty="0" err="1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macAddress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());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}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 </a:t>
                      </a:r>
                    </a:p>
                    <a:p>
                      <a:pPr algn="l" fontAlgn="base"/>
                      <a:r>
                        <a:rPr lang="pt-BR" dirty="0" err="1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void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pt-BR" dirty="0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loop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(){}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511103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8FEF543B-4355-0788-6FD0-5980A88A4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70" y="25447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105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1 - ESP32 </a:t>
            </a:r>
            <a:r>
              <a:rPr lang="pt-BR" sz="2000" dirty="0" err="1"/>
              <a:t>Wifi</a:t>
            </a:r>
            <a:r>
              <a:rPr lang="pt-BR" sz="2000" dirty="0"/>
              <a:t> conectando-se a uma rede WiFi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38A6EA-D97B-1399-2F21-A23395F5F3DD}"/>
              </a:ext>
            </a:extLst>
          </p:cNvPr>
          <p:cNvSpPr txBox="1">
            <a:spLocks/>
          </p:cNvSpPr>
          <p:nvPr/>
        </p:nvSpPr>
        <p:spPr>
          <a:xfrm>
            <a:off x="455961" y="1350072"/>
            <a:ext cx="11280078" cy="5308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 err="1"/>
              <a:t>WiFi.mode</a:t>
            </a:r>
            <a:r>
              <a:rPr lang="pt-BR" sz="2000" dirty="0"/>
              <a:t>()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Essa função ajusta o modo de operação do chip WiFi da placa. A um nível mais baixo, ela chama a função interna </a:t>
            </a:r>
            <a:r>
              <a:rPr lang="pt-BR" sz="2000" dirty="0" err="1"/>
              <a:t>esp_wifi_set_mode</a:t>
            </a:r>
            <a:r>
              <a:rPr lang="pt-BR" sz="2000" dirty="0"/>
              <a:t>(), que, por sua vez, aceita como parâmetro quatro modos de operação. Veremos eles a seguir.</a:t>
            </a:r>
          </a:p>
          <a:p>
            <a:pPr>
              <a:lnSpc>
                <a:spcPct val="160000"/>
              </a:lnSpc>
            </a:pPr>
            <a:r>
              <a:rPr lang="pt-BR" sz="1800" dirty="0"/>
              <a:t>WIFI_MODE_NULL: nesse modo, a estrutura de dados relativa ao funcionamento de rede não está alocada no chip, ou seja, não foram inicializadas as rotinas nem do modo AP nem do modo STA.</a:t>
            </a:r>
          </a:p>
          <a:p>
            <a:pPr>
              <a:lnSpc>
                <a:spcPct val="160000"/>
              </a:lnSpc>
            </a:pPr>
            <a:r>
              <a:rPr lang="pt-BR" sz="1800" dirty="0"/>
              <a:t>WIFI_MODE_STA: esse, também chamado de </a:t>
            </a:r>
            <a:r>
              <a:rPr lang="pt-BR" sz="1800" dirty="0" err="1"/>
              <a:t>station</a:t>
            </a:r>
            <a:r>
              <a:rPr lang="pt-BR" sz="1800" dirty="0"/>
              <a:t> </a:t>
            </a:r>
            <a:r>
              <a:rPr lang="pt-BR" sz="1800" dirty="0" err="1"/>
              <a:t>mode</a:t>
            </a:r>
            <a:r>
              <a:rPr lang="pt-BR" sz="1800" dirty="0"/>
              <a:t>, é o modo de operação para que o dispositivo funcione como um cliente wireless. Um exemplo de uso é quando fizermos um web server: a ESP32 será conectada a uma rede WiFi e fornecerá páginas web no endereço dela. Na figura a seguir visualiza-se um exemplo da topologia nesse modo de operação.</a:t>
            </a:r>
          </a:p>
        </p:txBody>
      </p:sp>
    </p:spTree>
    <p:extLst>
      <p:ext uri="{BB962C8B-B14F-4D97-AF65-F5344CB8AC3E}">
        <p14:creationId xmlns:p14="http://schemas.microsoft.com/office/powerpoint/2010/main" val="1507394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1 - ESP32 </a:t>
            </a:r>
            <a:r>
              <a:rPr lang="pt-BR" sz="2000" dirty="0" err="1"/>
              <a:t>Wifi</a:t>
            </a:r>
            <a:r>
              <a:rPr lang="pt-BR" sz="2000" dirty="0"/>
              <a:t> conectando-se a uma rede WiFi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38A6EA-D97B-1399-2F21-A23395F5F3DD}"/>
              </a:ext>
            </a:extLst>
          </p:cNvPr>
          <p:cNvSpPr txBox="1">
            <a:spLocks/>
          </p:cNvSpPr>
          <p:nvPr/>
        </p:nvSpPr>
        <p:spPr>
          <a:xfrm>
            <a:off x="455961" y="1350073"/>
            <a:ext cx="11280078" cy="650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 err="1"/>
              <a:t>WiFi.mode</a:t>
            </a:r>
            <a:r>
              <a:rPr lang="pt-BR" sz="2000" dirty="0"/>
              <a:t>()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B364D87-98EC-D4C1-8D41-D362BA34B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031" y="1781652"/>
            <a:ext cx="5685937" cy="452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397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1 - ESP32 </a:t>
            </a:r>
            <a:r>
              <a:rPr lang="pt-BR" sz="2000" dirty="0" err="1"/>
              <a:t>Wifi</a:t>
            </a:r>
            <a:r>
              <a:rPr lang="pt-BR" sz="2000" dirty="0"/>
              <a:t> conectando-se a uma rede WiFi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38A6EA-D97B-1399-2F21-A23395F5F3DD}"/>
              </a:ext>
            </a:extLst>
          </p:cNvPr>
          <p:cNvSpPr txBox="1">
            <a:spLocks/>
          </p:cNvSpPr>
          <p:nvPr/>
        </p:nvSpPr>
        <p:spPr>
          <a:xfrm>
            <a:off x="455961" y="1350072"/>
            <a:ext cx="4890590" cy="50507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 err="1"/>
              <a:t>WiFi.mode</a:t>
            </a:r>
            <a:r>
              <a:rPr lang="pt-BR" sz="2000" dirty="0"/>
              <a:t>()</a:t>
            </a:r>
          </a:p>
          <a:p>
            <a:pPr>
              <a:lnSpc>
                <a:spcPct val="160000"/>
              </a:lnSpc>
            </a:pPr>
            <a:r>
              <a:rPr lang="pt-BR" sz="1800" dirty="0"/>
              <a:t>WIFI_MODE_AP: esse, também conhecido como Access Point </a:t>
            </a:r>
            <a:r>
              <a:rPr lang="pt-BR" sz="1800" dirty="0" err="1"/>
              <a:t>mode</a:t>
            </a:r>
            <a:r>
              <a:rPr lang="pt-BR" sz="1800" dirty="0"/>
              <a:t>, é o modo de operação para que o dispositivo funcione como um servidor/roteador. Esse modo é interessante para o caso de monitoramento de dados provenientes de outras placas ESP32. Você ter como clientes não apenas dispositivos como celular e computadores, mas também outras placas que tenham WiFi. Na figura abaixo visualiza-se um exemplo da topologia nesse modo de operação.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DB590F-FF78-AB60-96F3-66B25D070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939" y="1599530"/>
            <a:ext cx="6125430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77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1 - ESP32 </a:t>
            </a:r>
            <a:r>
              <a:rPr lang="pt-BR" sz="2000" dirty="0" err="1"/>
              <a:t>Wifi</a:t>
            </a:r>
            <a:r>
              <a:rPr lang="pt-BR" sz="2000" dirty="0"/>
              <a:t> conectando-se a uma rede WiFi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38A6EA-D97B-1399-2F21-A23395F5F3DD}"/>
              </a:ext>
            </a:extLst>
          </p:cNvPr>
          <p:cNvSpPr txBox="1">
            <a:spLocks/>
          </p:cNvSpPr>
          <p:nvPr/>
        </p:nvSpPr>
        <p:spPr>
          <a:xfrm>
            <a:off x="455960" y="1350072"/>
            <a:ext cx="11140783" cy="505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400" dirty="0" err="1"/>
              <a:t>WiFi.mode</a:t>
            </a:r>
            <a:r>
              <a:rPr lang="pt-BR" sz="2400" dirty="0"/>
              <a:t>()</a:t>
            </a:r>
          </a:p>
          <a:p>
            <a:pPr>
              <a:lnSpc>
                <a:spcPct val="160000"/>
              </a:lnSpc>
            </a:pPr>
            <a:r>
              <a:rPr lang="pt-BR" sz="2000" dirty="0"/>
              <a:t>WIFI_MODE_APSTA: esse é um modo de coexistência entre os modos STA e AP. Note que, nesse modo, o ESP32  prioriza o modo STA sob o AP.</a:t>
            </a:r>
          </a:p>
          <a:p>
            <a:pPr marL="0" indent="0">
              <a:lnSpc>
                <a:spcPct val="160000"/>
              </a:lnSpc>
              <a:buNone/>
            </a:pPr>
            <a:endParaRPr lang="pt-BR" sz="2000" dirty="0"/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 err="1"/>
              <a:t>WiFi.macAddress</a:t>
            </a:r>
            <a:r>
              <a:rPr lang="pt-BR" sz="2000" dirty="0"/>
              <a:t>()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Essa é uma simples função da classe WiFi, usada para retornar o endereço MAC de um dispositivo de rede. O retorno é o endereço no formato hexadecimal. Por exemplo: “A4:CF:12:45:AE:CC”.</a:t>
            </a:r>
          </a:p>
        </p:txBody>
      </p:sp>
    </p:spTree>
    <p:extLst>
      <p:ext uri="{BB962C8B-B14F-4D97-AF65-F5344CB8AC3E}">
        <p14:creationId xmlns:p14="http://schemas.microsoft.com/office/powerpoint/2010/main" val="163953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2 - ESP32 </a:t>
            </a:r>
            <a:r>
              <a:rPr lang="pt-BR" sz="2000" dirty="0" err="1"/>
              <a:t>Wifi</a:t>
            </a:r>
            <a:r>
              <a:rPr lang="pt-BR" sz="2000" dirty="0"/>
              <a:t> conectando-se a uma rede e apresentando as informações da rede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FB9BB9E-3D90-179D-4942-CE2F65E03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827" y="1280160"/>
            <a:ext cx="8180345" cy="53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67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38A6EA-D97B-1399-2F21-A23395F5F3DD}"/>
              </a:ext>
            </a:extLst>
          </p:cNvPr>
          <p:cNvSpPr txBox="1">
            <a:spLocks/>
          </p:cNvSpPr>
          <p:nvPr/>
        </p:nvSpPr>
        <p:spPr>
          <a:xfrm>
            <a:off x="455961" y="1350072"/>
            <a:ext cx="11280078" cy="5104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Um web server é, em poucas palavras, um programa que responde a solicitações HTTP, processando páginas e códigos e enviando dados para o cliente. O cliente é quem faz as solicitações para o web browser, e podem haver diversos clientes fazendo diversas requisições em um dado momento. Neste experimento, seremos breves quanto ao funcionamento desse sistema. Para realmente compreender cada etapa, é necessário ter um aprofundamento de conceitos de Redes. Porém, nosso objetivo aqui é demonstrar como criar e manipular um servidor, mesmo sem ter pleno conhecimento de arquitetura de redes. Isso é possível devido a programação de alto nível de abstração que a biblioteca </a:t>
            </a:r>
            <a:r>
              <a:rPr lang="pt-BR" sz="2000" dirty="0" err="1"/>
              <a:t>WiFi.h</a:t>
            </a:r>
            <a:r>
              <a:rPr lang="pt-BR" sz="2000" dirty="0"/>
              <a:t> nos fornece. Em seguida, analisaremos parte por parte o código que usaremos.</a:t>
            </a:r>
          </a:p>
        </p:txBody>
      </p:sp>
    </p:spTree>
    <p:extLst>
      <p:ext uri="{BB962C8B-B14F-4D97-AF65-F5344CB8AC3E}">
        <p14:creationId xmlns:p14="http://schemas.microsoft.com/office/powerpoint/2010/main" val="306942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1E9A4BB-E35A-2851-410F-5F98D5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38A6EA-D97B-1399-2F21-A23395F5F3DD}"/>
              </a:ext>
            </a:extLst>
          </p:cNvPr>
          <p:cNvSpPr txBox="1">
            <a:spLocks/>
          </p:cNvSpPr>
          <p:nvPr/>
        </p:nvSpPr>
        <p:spPr>
          <a:xfrm>
            <a:off x="455961" y="1350072"/>
            <a:ext cx="11280078" cy="51045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Cabeçalho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Primeiramente, incluímos a biblioteca </a:t>
            </a:r>
            <a:r>
              <a:rPr lang="pt-BR" sz="2000" dirty="0" err="1"/>
              <a:t>WiFi.h</a:t>
            </a:r>
            <a:r>
              <a:rPr lang="pt-BR" sz="2000" dirty="0"/>
              <a:t>. Você poderá ver, em outros códigos, bibliotecas adicionais. Elas são muito úteis para aplicações mais robustas por fornecerem funções avançadas. Porém, não iremos utilizá-las no nosso web server devido a baixa complexidade de iniciar um pela </a:t>
            </a:r>
            <a:r>
              <a:rPr lang="pt-BR" sz="2000" dirty="0" err="1"/>
              <a:t>WiFi.h</a:t>
            </a:r>
            <a:r>
              <a:rPr lang="pt-BR" sz="2000" dirty="0"/>
              <a:t>.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endParaRPr lang="pt-BR" sz="20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Em seguida, definimos a rede e a senha da rede a qual a ESP32 irá se conectar. Nessa etapa, você deve substituir o conteúdo entre aspas mostrado no código a seguir pelas credencias da sua rede. Na sequência, declaramos uma variável LED para armazenar o pino o qual iremos manipular pela web. Caso você queira mudar o pino, basta alterar o valor da variável. A última linha do cabeçalho define a porta que o servidor irá utilizar. A mais comum é a utilização da porta 80.</a:t>
            </a:r>
          </a:p>
        </p:txBody>
      </p:sp>
    </p:spTree>
    <p:extLst>
      <p:ext uri="{BB962C8B-B14F-4D97-AF65-F5344CB8AC3E}">
        <p14:creationId xmlns:p14="http://schemas.microsoft.com/office/powerpoint/2010/main" val="835323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2B46F76-7755-1430-F057-875D80EF5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489404"/>
              </p:ext>
            </p:extLst>
          </p:nvPr>
        </p:nvGraphicFramePr>
        <p:xfrm>
          <a:off x="480018" y="1146299"/>
          <a:ext cx="8170833" cy="1463040"/>
        </p:xfrm>
        <a:graphic>
          <a:graphicData uri="http://schemas.openxmlformats.org/drawingml/2006/table">
            <a:tbl>
              <a:tblPr/>
              <a:tblGrid>
                <a:gridCol w="270093">
                  <a:extLst>
                    <a:ext uri="{9D8B030D-6E8A-4147-A177-3AD203B41FA5}">
                      <a16:colId xmlns:a16="http://schemas.microsoft.com/office/drawing/2014/main" val="723473786"/>
                    </a:ext>
                  </a:extLst>
                </a:gridCol>
                <a:gridCol w="7900740">
                  <a:extLst>
                    <a:ext uri="{9D8B030D-6E8A-4147-A177-3AD203B41FA5}">
                      <a16:colId xmlns:a16="http://schemas.microsoft.com/office/drawing/2014/main" val="2482976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pt-BR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1</a:t>
                      </a:r>
                    </a:p>
                    <a:p>
                      <a:pPr algn="ctr" fontAlgn="base"/>
                      <a:r>
                        <a:rPr lang="pt-BR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2</a:t>
                      </a:r>
                    </a:p>
                    <a:p>
                      <a:pPr algn="ctr" fontAlgn="base"/>
                      <a:r>
                        <a:rPr lang="pt-BR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3</a:t>
                      </a:r>
                    </a:p>
                    <a:p>
                      <a:pPr algn="ctr" fontAlgn="base"/>
                      <a:r>
                        <a:rPr lang="pt-BR">
                          <a:solidFill>
                            <a:srgbClr val="317CC5"/>
                          </a:solidFill>
                          <a:effectLst/>
                          <a:latin typeface="inherit"/>
                        </a:rPr>
                        <a:t>4</a:t>
                      </a:r>
                    </a:p>
                    <a:p>
                      <a:pPr algn="ctr" fontAlgn="base"/>
                      <a:r>
                        <a:rPr lang="pt-BR">
                          <a:solidFill>
                            <a:srgbClr val="5499DE"/>
                          </a:solidFill>
                          <a:effectLst/>
                          <a:latin typeface="inherit"/>
                        </a:rPr>
                        <a:t>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pt-BR" dirty="0">
                          <a:solidFill>
                            <a:srgbClr val="B85C00"/>
                          </a:solidFill>
                          <a:effectLst/>
                          <a:latin typeface="inherit"/>
                        </a:rPr>
                        <a:t>#include &lt;</a:t>
                      </a:r>
                      <a:r>
                        <a:rPr lang="pt-BR" dirty="0" err="1">
                          <a:solidFill>
                            <a:srgbClr val="B85C00"/>
                          </a:solidFill>
                          <a:effectLst/>
                          <a:latin typeface="inherit"/>
                        </a:rPr>
                        <a:t>WiFi.h</a:t>
                      </a:r>
                      <a:r>
                        <a:rPr lang="pt-BR" dirty="0">
                          <a:solidFill>
                            <a:srgbClr val="B85C00"/>
                          </a:solidFill>
                          <a:effectLst/>
                          <a:latin typeface="inherit"/>
                        </a:rPr>
                        <a:t>&gt;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 err="1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const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pt-BR" dirty="0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char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* 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ssid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= </a:t>
                      </a:r>
                      <a:r>
                        <a:rPr lang="pt-BR" dirty="0">
                          <a:solidFill>
                            <a:srgbClr val="008000"/>
                          </a:solidFill>
                          <a:effectLst/>
                          <a:latin typeface="inherit"/>
                        </a:rPr>
                        <a:t>"SSID da sua rede"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 err="1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const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pt-BR" dirty="0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char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* </a:t>
                      </a:r>
                      <a:r>
                        <a:rPr lang="pt-BR" dirty="0" err="1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password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= </a:t>
                      </a:r>
                      <a:r>
                        <a:rPr lang="pt-BR" dirty="0">
                          <a:solidFill>
                            <a:srgbClr val="008000"/>
                          </a:solidFill>
                          <a:effectLst/>
                          <a:latin typeface="inherit"/>
                        </a:rPr>
                        <a:t>"Senha da sua rede"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 err="1">
                          <a:solidFill>
                            <a:srgbClr val="800080"/>
                          </a:solidFill>
                          <a:effectLst/>
                          <a:latin typeface="inherit"/>
                        </a:rPr>
                        <a:t>int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</a:t>
                      </a:r>
                      <a:r>
                        <a:rPr lang="pt-BR" dirty="0">
                          <a:solidFill>
                            <a:srgbClr val="002D7A"/>
                          </a:solidFill>
                          <a:effectLst/>
                          <a:latin typeface="inherit"/>
                        </a:rPr>
                        <a:t>LED</a:t>
                      </a:r>
                      <a:r>
                        <a:rPr lang="pt-BR" dirty="0">
                          <a:solidFill>
                            <a:srgbClr val="006FE0"/>
                          </a:solidFill>
                          <a:effectLst/>
                          <a:latin typeface="inherit"/>
                        </a:rPr>
                        <a:t> = </a:t>
                      </a:r>
                      <a:r>
                        <a:rPr lang="pt-BR" dirty="0">
                          <a:solidFill>
                            <a:srgbClr val="CE0000"/>
                          </a:solidFill>
                          <a:effectLst/>
                          <a:latin typeface="inherit"/>
                        </a:rPr>
                        <a:t>27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  <a:p>
                      <a:pPr algn="l" fontAlgn="base"/>
                      <a:r>
                        <a:rPr lang="pt-BR" dirty="0" err="1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WiFiServer</a:t>
                      </a:r>
                      <a:r>
                        <a:rPr lang="pt-BR" dirty="0">
                          <a:solidFill>
                            <a:srgbClr val="004ED0"/>
                          </a:solidFill>
                          <a:effectLst/>
                          <a:latin typeface="inherit"/>
                        </a:rPr>
                        <a:t> server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pt-BR" dirty="0">
                          <a:solidFill>
                            <a:srgbClr val="CE0000"/>
                          </a:solidFill>
                          <a:effectLst/>
                          <a:latin typeface="inherit"/>
                        </a:rPr>
                        <a:t>80</a:t>
                      </a:r>
                      <a:r>
                        <a:rPr lang="pt-BR" dirty="0">
                          <a:solidFill>
                            <a:srgbClr val="333333"/>
                          </a:solidFill>
                          <a:effectLst/>
                          <a:latin typeface="inherit"/>
                        </a:rPr>
                        <a:t>);</a:t>
                      </a:r>
                      <a:endParaRPr lang="pt-BR" dirty="0">
                        <a:solidFill>
                          <a:srgbClr val="000000"/>
                        </a:solidFill>
                        <a:effectLst/>
                        <a:latin typeface="inheri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81831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376819" y="2620360"/>
            <a:ext cx="11280078" cy="3294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/>
              <a:t>void setup()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/>
              <a:t>Explicaremos essa e a próxima seção de maneira mais dividida, de forma a facilitar o entendimento. No final, você encontrará o código completo caso deseje copiá-lo.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/>
              <a:t>Nessa seção, iniciamos a comunicação serial para visualizarmos, no Serial Monitor, o status da programação. Isso servirá como uma espécie de log, informando-nos o que está acontecendo no sistema. Em seguida, definimos a porta LED, GPIO 27, como saída de dados.</a:t>
            </a:r>
            <a:endParaRPr lang="pt-BR" sz="2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495E3D2-EB45-A4D2-C5A7-A83126B8D52E}"/>
              </a:ext>
            </a:extLst>
          </p:cNvPr>
          <p:cNvSpPr txBox="1"/>
          <p:nvPr/>
        </p:nvSpPr>
        <p:spPr>
          <a:xfrm>
            <a:off x="376819" y="6045158"/>
            <a:ext cx="6224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 err="1">
                <a:solidFill>
                  <a:srgbClr val="002D7A"/>
                </a:solidFill>
                <a:effectLst/>
                <a:latin typeface="inherit"/>
              </a:rPr>
              <a:t>Serial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en-US" b="0" i="0" dirty="0" err="1">
                <a:solidFill>
                  <a:srgbClr val="004ED0"/>
                </a:solidFill>
                <a:effectLst/>
                <a:latin typeface="inherit"/>
              </a:rPr>
              <a:t>begin</a:t>
            </a:r>
            <a:r>
              <a:rPr lang="en-US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en-US" b="0" i="0" dirty="0">
                <a:solidFill>
                  <a:srgbClr val="CE0000"/>
                </a:solidFill>
                <a:effectLst/>
                <a:latin typeface="inherit"/>
              </a:rPr>
              <a:t>115200</a:t>
            </a:r>
            <a:r>
              <a:rPr lang="en-US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en-US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en-US" b="0" i="0" dirty="0" err="1">
                <a:solidFill>
                  <a:srgbClr val="004ED0"/>
                </a:solidFill>
                <a:effectLst/>
                <a:latin typeface="inherit"/>
              </a:rPr>
              <a:t>pinMode</a:t>
            </a:r>
            <a:r>
              <a:rPr lang="en-US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en-US" b="0" i="0" dirty="0">
                <a:solidFill>
                  <a:srgbClr val="002D7A"/>
                </a:solidFill>
                <a:effectLst/>
                <a:latin typeface="inherit"/>
              </a:rPr>
              <a:t>LED</a:t>
            </a:r>
            <a:r>
              <a:rPr lang="en-US" b="0" i="0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en-US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en-US" b="0" i="0" dirty="0">
                <a:solidFill>
                  <a:srgbClr val="002D7A"/>
                </a:solidFill>
                <a:effectLst/>
                <a:latin typeface="inherit"/>
              </a:rPr>
              <a:t>OUTPUT</a:t>
            </a:r>
            <a:r>
              <a:rPr lang="en-US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en-US" b="0" i="0" dirty="0">
              <a:solidFill>
                <a:srgbClr val="000000"/>
              </a:solidFill>
              <a:effectLst/>
              <a:latin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4179437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47727" y="1382881"/>
            <a:ext cx="11280078" cy="2188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A seguir, teremos as primeiras informações que aparecerão no Monitor Serial quando o código começar a ser executado. O primeiro </a:t>
            </a:r>
            <a:r>
              <a:rPr lang="pt-BR" sz="2000" dirty="0" err="1"/>
              <a:t>println</a:t>
            </a:r>
            <a:r>
              <a:rPr lang="pt-BR" sz="2000" dirty="0"/>
              <a:t> é apenas para iniciar a frase abaixo dele em um novo parágrafo. Será exibido, o nome da rede a qual a ESP32 irá tentar se conectar e, logo a seguir, a tentativa de conexão será iniciada.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endParaRPr lang="pt-BR" sz="2000" dirty="0" err="1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293B6C-AC74-133C-991F-95A98DF304AD}"/>
              </a:ext>
            </a:extLst>
          </p:cNvPr>
          <p:cNvSpPr txBox="1"/>
          <p:nvPr/>
        </p:nvSpPr>
        <p:spPr>
          <a:xfrm>
            <a:off x="376819" y="3571188"/>
            <a:ext cx="6217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Serial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println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Serial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"Conectando-se a 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Serial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println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ssid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WiFi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begin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ssid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password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641097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47727" y="1382881"/>
            <a:ext cx="11280078" cy="2188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Nessa estrutura de repetição, </a:t>
            </a:r>
            <a:r>
              <a:rPr lang="pt-BR" sz="2000" dirty="0" err="1"/>
              <a:t>while</a:t>
            </a:r>
            <a:r>
              <a:rPr lang="pt-BR" sz="2000" dirty="0"/>
              <a:t>, verificamos se a conexão obteve sucesso. Enquanto a função </a:t>
            </a:r>
            <a:r>
              <a:rPr lang="pt-BR" sz="2000" dirty="0" err="1"/>
              <a:t>WiFi.status</a:t>
            </a:r>
            <a:r>
              <a:rPr lang="pt-BR" sz="2000" dirty="0"/>
              <a:t> não retornar “WL_CONNECTED”, uma constante que define o status da conexão como bem sucedida, serão exibidos pontos no Monitor Serial. Portanto, caso você tenha inserido alguma informação incorreta nas variáveis </a:t>
            </a:r>
            <a:r>
              <a:rPr lang="pt-BR" sz="2000" dirty="0" err="1"/>
              <a:t>ssid</a:t>
            </a:r>
            <a:r>
              <a:rPr lang="pt-BR" sz="2000" dirty="0"/>
              <a:t> e </a:t>
            </a:r>
            <a:r>
              <a:rPr lang="pt-BR" sz="2000" dirty="0" err="1"/>
              <a:t>password</a:t>
            </a:r>
            <a:r>
              <a:rPr lang="pt-BR" sz="2000" dirty="0"/>
              <a:t>, então o código ficará exibindo pontinhos infinitamente.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endParaRPr lang="pt-BR" sz="20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endParaRPr lang="pt-BR" sz="2000" dirty="0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9572FC5-3C7C-1C76-58C7-ACEC91F3E2EE}"/>
              </a:ext>
            </a:extLst>
          </p:cNvPr>
          <p:cNvSpPr txBox="1"/>
          <p:nvPr/>
        </p:nvSpPr>
        <p:spPr>
          <a:xfrm>
            <a:off x="358098" y="3807770"/>
            <a:ext cx="6217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while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WiFi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status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()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!= </a:t>
            </a:r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WL_CONNECTED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{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4ED0"/>
                </a:solidFill>
                <a:effectLst/>
                <a:latin typeface="inherit"/>
              </a:rPr>
              <a:t>	delay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CE0000"/>
                </a:solidFill>
                <a:effectLst/>
                <a:latin typeface="inherit"/>
              </a:rPr>
              <a:t>500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	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Serial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"."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}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Serial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println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4020566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47727" y="1146299"/>
            <a:ext cx="11280078" cy="2188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Em caso de sucesso na tentativa de conexão, serão exibidas as mensagens abaixo, inclusive o endereço IP da ESP32. Em seguida, o servidor web será iniciado, através da função </a:t>
            </a:r>
            <a:r>
              <a:rPr lang="pt-BR" sz="2000" dirty="0" err="1"/>
              <a:t>server.begin</a:t>
            </a:r>
            <a:r>
              <a:rPr lang="pt-BR" sz="2000" dirty="0"/>
              <a:t>. Como definido anteriormente, a porta a qual esse servidor receberá dados será na porta padrão 80.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endParaRPr lang="pt-BR" sz="2000" dirty="0" err="1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408E65-699D-4D81-5360-1E27B733BB9C}"/>
              </a:ext>
            </a:extLst>
          </p:cNvPr>
          <p:cNvSpPr txBox="1"/>
          <p:nvPr/>
        </p:nvSpPr>
        <p:spPr>
          <a:xfrm>
            <a:off x="247727" y="2828835"/>
            <a:ext cx="6217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Serial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println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"WiFi conectada."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Serial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println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"Endereço de IP: 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Serial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println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WiFi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localIP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());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server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begin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E45063-6DCB-44FB-DA9B-2751797E3A9C}"/>
              </a:ext>
            </a:extLst>
          </p:cNvPr>
          <p:cNvSpPr txBox="1">
            <a:spLocks/>
          </p:cNvSpPr>
          <p:nvPr/>
        </p:nvSpPr>
        <p:spPr>
          <a:xfrm>
            <a:off x="247727" y="4411004"/>
            <a:ext cx="11280078" cy="1682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 err="1"/>
              <a:t>void</a:t>
            </a:r>
            <a:r>
              <a:rPr lang="pt-BR" sz="2000" dirty="0"/>
              <a:t> loop()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Essa função inicializa uma variável </a:t>
            </a:r>
            <a:r>
              <a:rPr lang="pt-BR" sz="2000" dirty="0" err="1"/>
              <a:t>client</a:t>
            </a:r>
            <a:r>
              <a:rPr lang="pt-BR" sz="2000" dirty="0"/>
              <a:t>, que recebe os parâmetros do objeto cliente – derivado da classe </a:t>
            </a:r>
            <a:r>
              <a:rPr lang="pt-BR" sz="2000" dirty="0" err="1"/>
              <a:t>WiFi.h</a:t>
            </a:r>
            <a:r>
              <a:rPr lang="pt-BR" sz="2000" dirty="0"/>
              <a:t>. Em outras palavras, ele verifica se existe um cliente conectado com dados a serem transmitidos.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6372F48-E2EA-BF49-3B42-30CE4A2435FD}"/>
              </a:ext>
            </a:extLst>
          </p:cNvPr>
          <p:cNvSpPr txBox="1"/>
          <p:nvPr/>
        </p:nvSpPr>
        <p:spPr>
          <a:xfrm>
            <a:off x="247727" y="6221594"/>
            <a:ext cx="6224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 err="1">
                <a:solidFill>
                  <a:srgbClr val="004ED0"/>
                </a:solidFill>
                <a:effectLst/>
                <a:latin typeface="Monaco"/>
              </a:rPr>
              <a:t>WiFiClient</a:t>
            </a:r>
            <a:r>
              <a:rPr lang="pt-BR" b="0" i="0" dirty="0">
                <a:solidFill>
                  <a:srgbClr val="004ED0"/>
                </a:solidFill>
                <a:effectLst/>
                <a:latin typeface="Monaco"/>
              </a:rPr>
              <a:t> 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Monaco"/>
              </a:rPr>
              <a:t>client</a:t>
            </a:r>
            <a:r>
              <a:rPr lang="pt-BR" b="0" i="0" dirty="0">
                <a:solidFill>
                  <a:srgbClr val="006FE0"/>
                </a:solidFill>
                <a:effectLst/>
                <a:latin typeface="Monaco"/>
              </a:rPr>
              <a:t> = 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Monaco"/>
              </a:rPr>
              <a:t>server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Monaco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Monaco"/>
              </a:rPr>
              <a:t>available</a:t>
            </a:r>
            <a:r>
              <a:rPr lang="pt-BR" b="0" i="0" dirty="0">
                <a:solidFill>
                  <a:srgbClr val="333333"/>
                </a:solidFill>
                <a:effectLst/>
                <a:latin typeface="Monaco"/>
              </a:rPr>
              <a:t>();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3033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47727" y="1382880"/>
            <a:ext cx="11280078" cy="311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Em seguida, caso exista um cliente, então é notificado no Monitor Serial que um novo </a:t>
            </a:r>
            <a:r>
              <a:rPr lang="pt-BR" sz="2000" dirty="0" err="1"/>
              <a:t>client</a:t>
            </a:r>
            <a:r>
              <a:rPr lang="pt-BR" sz="2000" dirty="0"/>
              <a:t> se conectou. Em seguida, criamos uma variável para armazenar a mensagem desse </a:t>
            </a:r>
            <a:r>
              <a:rPr lang="pt-BR" sz="2000" dirty="0" err="1"/>
              <a:t>client</a:t>
            </a:r>
            <a:r>
              <a:rPr lang="pt-BR" sz="2000" dirty="0"/>
              <a:t>. A estrutura de repetição a seguir, </a:t>
            </a:r>
            <a:r>
              <a:rPr lang="pt-BR" sz="2000" dirty="0" err="1"/>
              <a:t>while</a:t>
            </a:r>
            <a:r>
              <a:rPr lang="pt-BR" sz="2000" dirty="0"/>
              <a:t>, mantém-se até o cliente ser desconectado. Na sequência, na estrutura de decisão </a:t>
            </a:r>
            <a:r>
              <a:rPr lang="pt-BR" sz="2000" dirty="0" err="1"/>
              <a:t>if</a:t>
            </a:r>
            <a:r>
              <a:rPr lang="pt-BR" sz="2000" dirty="0"/>
              <a:t>, verificamos se existem bytes, dados, a serem lidos. Caso existam, então os armazenamos na variável c e </a:t>
            </a:r>
            <a:r>
              <a:rPr lang="pt-BR" sz="2000" dirty="0" err="1"/>
              <a:t>mostramo-os</a:t>
            </a:r>
            <a:r>
              <a:rPr lang="pt-BR" sz="2000" dirty="0"/>
              <a:t> no Monitor Serial. Por fim, verificamos se o caractere é um símbolo de nova linha, representado por ‘\n’.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endParaRPr lang="pt-BR" sz="2000" dirty="0" err="1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84A68E2-A4F2-EA0F-7521-1316BD81C13C}"/>
              </a:ext>
            </a:extLst>
          </p:cNvPr>
          <p:cNvSpPr txBox="1"/>
          <p:nvPr/>
        </p:nvSpPr>
        <p:spPr>
          <a:xfrm>
            <a:off x="247727" y="4434874"/>
            <a:ext cx="62245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if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client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{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	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Serial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println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"Novo </a:t>
            </a:r>
            <a:r>
              <a:rPr lang="pt-BR" b="0" i="0" dirty="0" err="1">
                <a:solidFill>
                  <a:srgbClr val="008000"/>
                </a:solidFill>
                <a:effectLst/>
                <a:latin typeface="inherit"/>
              </a:rPr>
              <a:t>client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."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800080"/>
                </a:solidFill>
                <a:effectLst/>
                <a:latin typeface="inherit"/>
              </a:rPr>
              <a:t>	</a:t>
            </a:r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String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currentLine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= 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800080"/>
                </a:solidFill>
                <a:effectLst/>
                <a:latin typeface="inherit"/>
              </a:rPr>
              <a:t>	</a:t>
            </a:r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while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client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connected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())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{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 		</a:t>
            </a:r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if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client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available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())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{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 			</a:t>
            </a:r>
            <a:r>
              <a:rPr lang="pt-BR" b="0" i="0" dirty="0">
                <a:solidFill>
                  <a:srgbClr val="800080"/>
                </a:solidFill>
                <a:effectLst/>
                <a:latin typeface="inherit"/>
              </a:rPr>
              <a:t>char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c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= 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client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read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 			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Serial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write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c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  			</a:t>
            </a:r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if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c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== 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'\n'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{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234550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47727" y="1146299"/>
            <a:ext cx="11280078" cy="1715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Em seguida, é verificado, através da função </a:t>
            </a:r>
            <a:r>
              <a:rPr lang="pt-BR" sz="2000" dirty="0" err="1"/>
              <a:t>length</a:t>
            </a:r>
            <a:r>
              <a:rPr lang="pt-BR" sz="2000" dirty="0"/>
              <a:t>, se a mensagem terminou – ou seja, se não há mais bytes recebidos. Feito isso, é dado uma resposta ao cliente, através da função </a:t>
            </a:r>
            <a:r>
              <a:rPr lang="pt-BR" sz="2000" dirty="0" err="1"/>
              <a:t>client.println</a:t>
            </a:r>
            <a:r>
              <a:rPr lang="pt-BR" sz="2000" dirty="0"/>
              <a:t>, de forma a notificá-lo que a mensagem foi recebida.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710F95-7EDF-2B50-52F0-82C59E8A71D4}"/>
              </a:ext>
            </a:extLst>
          </p:cNvPr>
          <p:cNvSpPr txBox="1"/>
          <p:nvPr/>
        </p:nvSpPr>
        <p:spPr>
          <a:xfrm>
            <a:off x="247727" y="2861621"/>
            <a:ext cx="6217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if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currentLine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length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()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== </a:t>
            </a:r>
            <a:r>
              <a:rPr lang="pt-BR" b="0" i="0" dirty="0">
                <a:solidFill>
                  <a:srgbClr val="CE0000"/>
                </a:solidFill>
                <a:effectLst/>
                <a:latin typeface="inherit"/>
              </a:rPr>
              <a:t>0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{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	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client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println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"HTTP/1.1 200 OK"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	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client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println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</a:t>
            </a:r>
            <a:r>
              <a:rPr lang="pt-BR" b="0" i="0" dirty="0" err="1">
                <a:solidFill>
                  <a:srgbClr val="008000"/>
                </a:solidFill>
                <a:effectLst/>
                <a:latin typeface="inherit"/>
              </a:rPr>
              <a:t>Content-type:text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/</a:t>
            </a:r>
            <a:r>
              <a:rPr lang="pt-BR" b="0" i="0" dirty="0" err="1">
                <a:solidFill>
                  <a:srgbClr val="008000"/>
                </a:solidFill>
                <a:effectLst/>
                <a:latin typeface="inherit"/>
              </a:rPr>
              <a:t>html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	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client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println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D51702-6317-F97B-B53F-E8068ED42C48}"/>
              </a:ext>
            </a:extLst>
          </p:cNvPr>
          <p:cNvSpPr txBox="1">
            <a:spLocks/>
          </p:cNvSpPr>
          <p:nvPr/>
        </p:nvSpPr>
        <p:spPr>
          <a:xfrm>
            <a:off x="247727" y="4276078"/>
            <a:ext cx="11280078" cy="1715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Na função </a:t>
            </a:r>
            <a:r>
              <a:rPr lang="pt-BR" sz="2000" dirty="0" err="1"/>
              <a:t>client.print</a:t>
            </a:r>
            <a:r>
              <a:rPr lang="pt-BR" sz="2000" dirty="0"/>
              <a:t>, enviamos duas mensagens de texto com marcações HTML. Nessa seção, caso você deseje, pode alterar para exibir outras </a:t>
            </a:r>
            <a:r>
              <a:rPr lang="pt-BR" sz="2000" dirty="0" err="1"/>
              <a:t>tags</a:t>
            </a:r>
            <a:r>
              <a:rPr lang="pt-BR" sz="2000" dirty="0"/>
              <a:t> de HTML, personalizando a página. Entretanto, no nosso caso, apenas é criado duas frases, uma para acionar o LED e outra para apagá-lo.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endParaRPr lang="pt-BR" sz="2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06CE798-C7FC-A35B-3ED2-E535268E59D7}"/>
              </a:ext>
            </a:extLst>
          </p:cNvPr>
          <p:cNvSpPr txBox="1"/>
          <p:nvPr/>
        </p:nvSpPr>
        <p:spPr>
          <a:xfrm>
            <a:off x="247727" y="5991400"/>
            <a:ext cx="10703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 err="1">
                <a:solidFill>
                  <a:srgbClr val="002D7A"/>
                </a:solidFill>
                <a:effectLst/>
                <a:latin typeface="inherit"/>
              </a:rPr>
              <a:t>client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en-US" b="0" i="0" dirty="0" err="1">
                <a:solidFill>
                  <a:srgbClr val="004ED0"/>
                </a:solidFill>
                <a:effectLst/>
                <a:latin typeface="inherit"/>
              </a:rPr>
              <a:t>print</a:t>
            </a:r>
            <a:r>
              <a:rPr lang="en-US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en-US" b="0" i="0" dirty="0">
                <a:solidFill>
                  <a:srgbClr val="008000"/>
                </a:solidFill>
                <a:effectLst/>
                <a:latin typeface="inherit"/>
              </a:rPr>
              <a:t>"Click &lt;a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inherit"/>
              </a:rPr>
              <a:t>href</a:t>
            </a:r>
            <a:r>
              <a:rPr lang="en-US" b="0" i="0" dirty="0">
                <a:solidFill>
                  <a:srgbClr val="008000"/>
                </a:solidFill>
                <a:effectLst/>
                <a:latin typeface="inherit"/>
              </a:rPr>
              <a:t>=\"/H\"&gt;here&lt;/a&gt; to turn the LED on pin 2 on.&lt;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inherit"/>
              </a:rPr>
              <a:t>br</a:t>
            </a:r>
            <a:r>
              <a:rPr lang="en-US" b="0" i="0" dirty="0">
                <a:solidFill>
                  <a:srgbClr val="008000"/>
                </a:solidFill>
                <a:effectLst/>
                <a:latin typeface="inherit"/>
              </a:rPr>
              <a:t>&gt;"</a:t>
            </a:r>
            <a:r>
              <a:rPr lang="en-US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en-US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en-US" b="0" i="0" dirty="0" err="1">
                <a:solidFill>
                  <a:srgbClr val="002D7A"/>
                </a:solidFill>
                <a:effectLst/>
                <a:latin typeface="inherit"/>
              </a:rPr>
              <a:t>client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en-US" b="0" i="0" dirty="0" err="1">
                <a:solidFill>
                  <a:srgbClr val="004ED0"/>
                </a:solidFill>
                <a:effectLst/>
                <a:latin typeface="inherit"/>
              </a:rPr>
              <a:t>print</a:t>
            </a:r>
            <a:r>
              <a:rPr lang="en-US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en-US" b="0" i="0" dirty="0">
                <a:solidFill>
                  <a:srgbClr val="008000"/>
                </a:solidFill>
                <a:effectLst/>
                <a:latin typeface="inherit"/>
              </a:rPr>
              <a:t>"Click &lt;a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inherit"/>
              </a:rPr>
              <a:t>href</a:t>
            </a:r>
            <a:r>
              <a:rPr lang="en-US" b="0" i="0" dirty="0">
                <a:solidFill>
                  <a:srgbClr val="008000"/>
                </a:solidFill>
                <a:effectLst/>
                <a:latin typeface="inherit"/>
              </a:rPr>
              <a:t>=\"/L\"&gt;here&lt;/a&gt; to turn the LED on pin 2 off.&lt;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inherit"/>
              </a:rPr>
              <a:t>br</a:t>
            </a:r>
            <a:r>
              <a:rPr lang="en-US" b="0" i="0" dirty="0">
                <a:solidFill>
                  <a:srgbClr val="008000"/>
                </a:solidFill>
                <a:effectLst/>
                <a:latin typeface="inherit"/>
              </a:rPr>
              <a:t>&gt;"</a:t>
            </a:r>
            <a:r>
              <a:rPr lang="en-US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en-US" b="0" i="0" dirty="0">
              <a:solidFill>
                <a:srgbClr val="000000"/>
              </a:solidFill>
              <a:effectLst/>
              <a:latin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2692283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47727" y="1146299"/>
            <a:ext cx="11280078" cy="1200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Na sequência, mandamos uma linha em branco para notificar o fim da mensagem. Logo após encerramos o laço de repetição </a:t>
            </a:r>
            <a:r>
              <a:rPr lang="pt-BR" sz="2000" dirty="0" err="1"/>
              <a:t>while</a:t>
            </a:r>
            <a:r>
              <a:rPr lang="pt-BR" sz="2000" dirty="0"/>
              <a:t>, desconectando o </a:t>
            </a:r>
            <a:r>
              <a:rPr lang="pt-BR" sz="2000" dirty="0" err="1"/>
              <a:t>client</a:t>
            </a:r>
            <a:r>
              <a:rPr lang="pt-BR" sz="2000" dirty="0"/>
              <a:t>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D51702-6317-F97B-B53F-E8068ED42C48}"/>
              </a:ext>
            </a:extLst>
          </p:cNvPr>
          <p:cNvSpPr txBox="1">
            <a:spLocks/>
          </p:cNvSpPr>
          <p:nvPr/>
        </p:nvSpPr>
        <p:spPr>
          <a:xfrm>
            <a:off x="247727" y="3047080"/>
            <a:ext cx="11280078" cy="2127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Esta estrutura </a:t>
            </a:r>
            <a:r>
              <a:rPr lang="pt-BR" sz="2000" dirty="0" err="1"/>
              <a:t>else</a:t>
            </a:r>
            <a:r>
              <a:rPr lang="pt-BR" sz="2000" dirty="0"/>
              <a:t> remete a verificação dos caracteres da mensagem recebida pelo cliente.  A primeira, impede a </a:t>
            </a:r>
            <a:r>
              <a:rPr lang="pt-BR" sz="2000" dirty="0" err="1"/>
              <a:t>string</a:t>
            </a:r>
            <a:r>
              <a:rPr lang="pt-BR" sz="2000" dirty="0"/>
              <a:t> de ficar com espaços em branco. A segunda, ‘\r’ significa um caractere de retorno, indicando o início de uma nova linha. Por fim, adicionamos ele a variável </a:t>
            </a:r>
            <a:r>
              <a:rPr lang="pt-BR" sz="2000" dirty="0" err="1"/>
              <a:t>currentLine</a:t>
            </a:r>
            <a:r>
              <a:rPr lang="pt-BR" sz="2000" dirty="0"/>
              <a:t> como parte da mensagem.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280A89D-BB9B-F5C4-AC62-DB1E0403BDAC}"/>
              </a:ext>
            </a:extLst>
          </p:cNvPr>
          <p:cNvSpPr txBox="1"/>
          <p:nvPr/>
        </p:nvSpPr>
        <p:spPr>
          <a:xfrm>
            <a:off x="247727" y="2341856"/>
            <a:ext cx="6217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client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println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800080"/>
                </a:solidFill>
                <a:effectLst/>
                <a:latin typeface="inherit"/>
              </a:rPr>
              <a:t>break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EC03783-E34F-829C-A3CE-242B4C4CB4CA}"/>
              </a:ext>
            </a:extLst>
          </p:cNvPr>
          <p:cNvSpPr txBox="1"/>
          <p:nvPr/>
        </p:nvSpPr>
        <p:spPr>
          <a:xfrm>
            <a:off x="247727" y="5023406"/>
            <a:ext cx="62179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}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else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{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 	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currentLine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= 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}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}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else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if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c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!= 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'\r'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{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   	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currentLine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+= </a:t>
            </a:r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c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}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104142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47727" y="1146299"/>
            <a:ext cx="11280078" cy="1200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Finalmente, verificamos se a requisição foi para acionar a LED (H) ou desliga-la (L). Em seguida, finalizamos a conexão com o cliente através da função </a:t>
            </a:r>
            <a:r>
              <a:rPr lang="pt-BR" sz="2000" dirty="0" err="1"/>
              <a:t>client.stop</a:t>
            </a:r>
            <a:r>
              <a:rPr lang="pt-BR" sz="2000" dirty="0"/>
              <a:t> e notificamos no Monitor Serial.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EBEEA65-3F06-4200-FE3E-E0A36AAB5D12}"/>
              </a:ext>
            </a:extLst>
          </p:cNvPr>
          <p:cNvSpPr txBox="1"/>
          <p:nvPr/>
        </p:nvSpPr>
        <p:spPr>
          <a:xfrm>
            <a:off x="480018" y="2346627"/>
            <a:ext cx="62179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	</a:t>
            </a:r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if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currentLine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endsWith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"GET /H"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))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{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  		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digitalWrite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LED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HIGH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 	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}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 	</a:t>
            </a:r>
            <a:r>
              <a:rPr lang="pt-BR" b="0" i="0" dirty="0" err="1">
                <a:solidFill>
                  <a:srgbClr val="800080"/>
                </a:solidFill>
                <a:effectLst/>
                <a:latin typeface="inherit"/>
              </a:rPr>
              <a:t>if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currentLine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endsWith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"GET /L"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))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{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  		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digitalWrite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LED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,</a:t>
            </a:r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002D7A"/>
                </a:solidFill>
                <a:effectLst/>
                <a:latin typeface="inherit"/>
              </a:rPr>
              <a:t>LOW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	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}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dirty="0">
                <a:solidFill>
                  <a:srgbClr val="333333"/>
                </a:solidFill>
                <a:latin typeface="inherit"/>
              </a:rPr>
              <a:t>           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}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dirty="0">
                <a:solidFill>
                  <a:srgbClr val="333333"/>
                </a:solidFill>
                <a:latin typeface="inherit"/>
              </a:rPr>
              <a:t>     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}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    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client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stop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006FE0"/>
                </a:solidFill>
                <a:effectLst/>
                <a:latin typeface="inherit"/>
              </a:rPr>
              <a:t>     </a:t>
            </a:r>
            <a:r>
              <a:rPr lang="pt-BR" b="0" i="0" dirty="0" err="1">
                <a:solidFill>
                  <a:srgbClr val="002D7A"/>
                </a:solidFill>
                <a:effectLst/>
                <a:latin typeface="inherit"/>
              </a:rPr>
              <a:t>Serial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inherit"/>
              </a:rPr>
              <a:t>.</a:t>
            </a:r>
            <a:r>
              <a:rPr lang="pt-BR" b="0" i="0" dirty="0" err="1">
                <a:solidFill>
                  <a:srgbClr val="004ED0"/>
                </a:solidFill>
                <a:effectLst/>
                <a:latin typeface="inherit"/>
              </a:rPr>
              <a:t>println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(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"</a:t>
            </a:r>
            <a:r>
              <a:rPr lang="pt-BR" b="0" i="0" dirty="0" err="1">
                <a:solidFill>
                  <a:srgbClr val="008000"/>
                </a:solidFill>
                <a:effectLst/>
                <a:latin typeface="inherit"/>
              </a:rPr>
              <a:t>Client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 </a:t>
            </a:r>
            <a:r>
              <a:rPr lang="pt-BR" b="0" i="0" dirty="0" err="1">
                <a:solidFill>
                  <a:srgbClr val="008000"/>
                </a:solidFill>
                <a:effectLst/>
                <a:latin typeface="inherit"/>
              </a:rPr>
              <a:t>Disconnected</a:t>
            </a:r>
            <a:r>
              <a:rPr lang="pt-BR" b="0" i="0" dirty="0">
                <a:solidFill>
                  <a:srgbClr val="008000"/>
                </a:solidFill>
                <a:effectLst/>
                <a:latin typeface="inherit"/>
              </a:rPr>
              <a:t>."</a:t>
            </a:r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);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   }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  <a:p>
            <a:pPr algn="l" fontAlgn="base"/>
            <a:r>
              <a:rPr lang="pt-BR" b="0" i="0" dirty="0">
                <a:solidFill>
                  <a:srgbClr val="333333"/>
                </a:solidFill>
                <a:effectLst/>
                <a:latin typeface="inherit"/>
              </a:rPr>
              <a:t>}</a:t>
            </a:r>
            <a:endParaRPr lang="pt-BR" b="0" i="0" dirty="0">
              <a:solidFill>
                <a:srgbClr val="000000"/>
              </a:solidFill>
              <a:effectLst/>
              <a:latin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195304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47727" y="922652"/>
            <a:ext cx="11280078" cy="531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Código Completo do Web Server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21B87902-4469-F3F7-F1B3-AA884CD37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454545"/>
            <a:ext cx="7200000" cy="518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30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65CCDB7-D66A-8397-5736-2F46C816E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11829"/>
            <a:ext cx="7200000" cy="663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11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15454" y="1146298"/>
            <a:ext cx="11280078" cy="1564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Feito isso, podemos conectar à página do web server através do computador, indicando o endereço IP que foi mostrado na Monitor Serial. Confira abaixo como a página deve aparecer em um exemplo de web browser.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3E87E14-51E5-7461-686D-101D10CEF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928" y="2484962"/>
            <a:ext cx="6882872" cy="423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84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3 - ESP32 </a:t>
            </a:r>
            <a:r>
              <a:rPr lang="pt-BR" sz="2000" dirty="0" err="1"/>
              <a:t>Wifi</a:t>
            </a:r>
            <a:r>
              <a:rPr lang="pt-BR" sz="2000" dirty="0"/>
              <a:t> Executando um </a:t>
            </a:r>
            <a:r>
              <a:rPr lang="pt-BR" sz="2000" dirty="0" err="1"/>
              <a:t>WebServer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15454" y="1146298"/>
            <a:ext cx="11280078" cy="736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Também podemos acessá-la de um celular ou tablet, como mostra a imagem abaixo.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endParaRPr lang="pt-BR" sz="2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34D497-4BD4-30C5-2283-16FAAFB4C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208" y="1882588"/>
            <a:ext cx="8067792" cy="45381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572192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4 - ESP32 </a:t>
            </a:r>
            <a:r>
              <a:rPr lang="pt-BR" sz="2000" dirty="0" err="1"/>
              <a:t>Wifi</a:t>
            </a:r>
            <a:r>
              <a:rPr lang="pt-BR" sz="2000" dirty="0"/>
              <a:t> Executando um UDP 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15454" y="1146297"/>
            <a:ext cx="11280078" cy="42755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Protocolo UDP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O protocolo UDP, da camada de transporte, nos permite de forma rápida e descomplicada, o envio de informações através da rede. A simplicidade de usar o UDP é compensada ao fato de não ser uma comunicação orientada à conexão, como por exemplo o TCP, logo, não há garantia que os pacotes sejam recebidos de forma ordenada ou se quer sejam recebidos. Usa-lo para aplicações simples é recomendado, já que não são dados críticos; a perda de pacotes (improvável, porém pode acontecer) não é tão prejudicial ao sistema. Iremos transmitir de um Cliente para um Host.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8E26E5-DBAE-B84F-7FA8-DA2AF0B89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963" y="5160204"/>
            <a:ext cx="3524742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19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4 - ESP32 </a:t>
            </a:r>
            <a:r>
              <a:rPr lang="pt-BR" sz="2000" dirty="0" err="1"/>
              <a:t>Wifi</a:t>
            </a:r>
            <a:r>
              <a:rPr lang="pt-BR" sz="2000" dirty="0"/>
              <a:t> Executando um UDP 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15454" y="1146298"/>
            <a:ext cx="11280078" cy="54373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b="1" dirty="0"/>
              <a:t>Protocolo UDP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Esta comunicação simples pode ser feita para transmitir dados até um banco de dados em um computador ou informações para outros Microcontroladores. As aplicações são as mais diversas e variadas possíveis, novamente, o limite é sua imaginação.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b="1" dirty="0"/>
              <a:t>Hardware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Acionaremos o LED_BLUE do </a:t>
            </a:r>
            <a:r>
              <a:rPr lang="pt-BR" sz="2000" dirty="0" err="1"/>
              <a:t>Kit_IoT</a:t>
            </a:r>
            <a:r>
              <a:rPr lang="pt-BR" sz="2000" dirty="0"/>
              <a:t> para indicar a transmissão de dados. Este LED é a entrada BLUE do LED RGB presente no </a:t>
            </a:r>
            <a:r>
              <a:rPr lang="pt-BR" sz="2000" dirty="0" err="1"/>
              <a:t>KIT_IoT</a:t>
            </a:r>
            <a:r>
              <a:rPr lang="pt-BR" sz="2000" dirty="0"/>
              <a:t>, e está conectado ao GPIO 27. Utilizaremos dois Kits um será o Cliente e o outro o Host. O código de cada um está disponível como material didático no AVA juntamente com a explicação do funcionamento.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610275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5 - ESP32 </a:t>
            </a:r>
            <a:r>
              <a:rPr lang="pt-BR" sz="2000" dirty="0" err="1"/>
              <a:t>Wifi</a:t>
            </a:r>
            <a:r>
              <a:rPr lang="pt-BR" sz="2000" dirty="0"/>
              <a:t> Executando um TCP 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15454" y="1146297"/>
            <a:ext cx="11280078" cy="42755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Protocolo TCP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TCP (</a:t>
            </a:r>
            <a:r>
              <a:rPr lang="pt-BR" sz="2000" dirty="0" err="1"/>
              <a:t>Transmission</a:t>
            </a:r>
            <a:r>
              <a:rPr lang="pt-BR" sz="2000" dirty="0"/>
              <a:t> </a:t>
            </a:r>
            <a:r>
              <a:rPr lang="pt-BR" sz="2000" dirty="0" err="1"/>
              <a:t>Control</a:t>
            </a:r>
            <a:r>
              <a:rPr lang="pt-BR" sz="2000" dirty="0"/>
              <a:t> </a:t>
            </a:r>
            <a:r>
              <a:rPr lang="pt-BR" sz="2000" dirty="0" err="1"/>
              <a:t>Protocol</a:t>
            </a:r>
            <a:r>
              <a:rPr lang="pt-BR" sz="2000" dirty="0"/>
              <a:t>) é um protocolo para transmissão de dados voltado à conexão, ou seja, permite que as maquinas se comuniquem e gerenciem o estado atual da conexão com seus clientes e servidores. Uma característica importante do TCP é seu gerenciamento do status da rede e os dados, com isto, podemos saber se o dado enviado foi realmente entregue ao destinatário, também garante a entrega ordenada das informações sem que haja colisões e perdas imperceptíveis. Muitas aplicações usam o TCP para efetuar suas comunicações, sendo amplamente usado em todo tipo de situação, ao contrario do UDP que por não ser orientado à conexão, pode gerar erros em nossos sistemas.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8E26E5-DBAE-B84F-7FA8-DA2AF0B89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963" y="5160204"/>
            <a:ext cx="3524742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07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5 - ESP32 </a:t>
            </a:r>
            <a:r>
              <a:rPr lang="pt-BR" sz="2000" dirty="0" err="1"/>
              <a:t>Wifi</a:t>
            </a:r>
            <a:r>
              <a:rPr lang="pt-BR" sz="2000" dirty="0"/>
              <a:t> Executando um TCP 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215454" y="1146298"/>
            <a:ext cx="4227454" cy="18766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Aplicativo TCP </a:t>
            </a:r>
            <a:r>
              <a:rPr lang="pt-BR" sz="2000" dirty="0" err="1"/>
              <a:t>Client</a:t>
            </a:r>
            <a:endParaRPr lang="pt-BR" sz="20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Você pode usar qualquer aplicativo ou programa para transmitir os pacotes TCP. Nós usaremos o aplicativo TCP </a:t>
            </a:r>
            <a:r>
              <a:rPr lang="pt-BR" sz="2000" dirty="0" err="1"/>
              <a:t>Client</a:t>
            </a:r>
            <a:r>
              <a:rPr lang="pt-BR" sz="2000" dirty="0"/>
              <a:t> disponível na Play Store. Link do aplicativo na Play Store: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https://play.google.com/store/apps/details?id=ru.serja.tcp_client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0ED9E85-7E6E-7B32-F2F8-13C320853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908" y="1355976"/>
            <a:ext cx="7749092" cy="414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20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5 - ESP32 </a:t>
            </a:r>
            <a:r>
              <a:rPr lang="pt-BR" sz="2000" dirty="0" err="1"/>
              <a:t>Wifi</a:t>
            </a:r>
            <a:r>
              <a:rPr lang="pt-BR" sz="2000" dirty="0"/>
              <a:t> Executando um TCP 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931839" y="1028966"/>
            <a:ext cx="5088067" cy="63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Código do  </a:t>
            </a:r>
            <a:r>
              <a:rPr lang="pt-BR" sz="2000" dirty="0" err="1"/>
              <a:t>TCPServer</a:t>
            </a:r>
            <a:r>
              <a:rPr lang="pt-BR" sz="2000" dirty="0"/>
              <a:t> no Esp32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1070E2F-8815-9E86-1F6F-71A9E7160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021" y="1581349"/>
            <a:ext cx="9083770" cy="512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55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5 - ESP32 </a:t>
            </a:r>
            <a:r>
              <a:rPr lang="pt-BR" sz="2000" dirty="0" err="1"/>
              <a:t>Wifi</a:t>
            </a:r>
            <a:r>
              <a:rPr lang="pt-BR" sz="2000" dirty="0"/>
              <a:t> Executando um TCP 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1301976" y="1254033"/>
            <a:ext cx="5475342" cy="7105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Código do  </a:t>
            </a:r>
            <a:r>
              <a:rPr lang="pt-BR" sz="2000" dirty="0" err="1"/>
              <a:t>TCPServer</a:t>
            </a:r>
            <a:r>
              <a:rPr lang="pt-BR" sz="2000" dirty="0"/>
              <a:t> no Esp32 (continuação...)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C9FA5A-E08F-69F3-A58A-06E46EC9D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46" y="2008962"/>
            <a:ext cx="9373908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84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FF1CC42-6678-E869-A470-7E149A05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8" y="24770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376E9B6-0E39-D563-9CED-E0E59508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/>
              <a:t>Biblioteca </a:t>
            </a:r>
            <a:r>
              <a:rPr lang="pt-BR" sz="2000" dirty="0" err="1"/>
              <a:t>Wifi.h</a:t>
            </a:r>
            <a:r>
              <a:rPr lang="pt-BR" sz="2000" dirty="0"/>
              <a:t> – Exemplo 5 - ESP32 </a:t>
            </a:r>
            <a:r>
              <a:rPr lang="pt-BR" sz="2000" dirty="0" err="1"/>
              <a:t>Wifi</a:t>
            </a:r>
            <a:r>
              <a:rPr lang="pt-BR" sz="2000" dirty="0"/>
              <a:t> Executando um TCP Server</a:t>
            </a:r>
            <a:endParaRPr lang="pt-BR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92E3B5-A732-79AE-EBB3-1B17E36A2B32}"/>
              </a:ext>
            </a:extLst>
          </p:cNvPr>
          <p:cNvSpPr txBox="1">
            <a:spLocks/>
          </p:cNvSpPr>
          <p:nvPr/>
        </p:nvSpPr>
        <p:spPr>
          <a:xfrm>
            <a:off x="1301976" y="1254033"/>
            <a:ext cx="5475342" cy="7105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2000" dirty="0"/>
              <a:t>Código do  TCP Server no Esp32 (continuação...)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E20BD1-FCCF-0FBF-100C-D03EA16A3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04" y="2209858"/>
            <a:ext cx="9440592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17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 err="1"/>
              <a:t>WiFi</a:t>
            </a:r>
            <a:r>
              <a:rPr lang="pt-BR" sz="2000" dirty="0"/>
              <a:t> Manager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11280078" cy="196597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Como funciona o </a:t>
            </a:r>
            <a:r>
              <a:rPr lang="pt-BR" sz="2000" dirty="0" err="1"/>
              <a:t>Wifi</a:t>
            </a:r>
            <a:r>
              <a:rPr lang="pt-BR" sz="2000" dirty="0"/>
              <a:t> Manager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Geralmente, quando criamos um código para os módulos ESP, temos as famosas linhas com “Coloque aqui o nome da sua rede </a:t>
            </a:r>
            <a:r>
              <a:rPr lang="pt-BR" sz="2000" dirty="0" err="1"/>
              <a:t>wifi</a:t>
            </a:r>
            <a:r>
              <a:rPr lang="pt-BR" sz="2000" dirty="0"/>
              <a:t>” e “coloque aqui a senha da sua rede </a:t>
            </a:r>
            <a:r>
              <a:rPr lang="pt-BR" sz="2000" dirty="0" err="1"/>
              <a:t>wifi</a:t>
            </a:r>
            <a:r>
              <a:rPr lang="pt-BR" sz="2000" dirty="0"/>
              <a:t>”. Mais ou menos assim: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8FB03A6-66C2-97C2-4B92-34878FC08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22" y="3530599"/>
            <a:ext cx="11026078" cy="14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41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 err="1"/>
              <a:t>WiFi</a:t>
            </a:r>
            <a:r>
              <a:rPr lang="pt-BR" sz="2000" dirty="0"/>
              <a:t> Manager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11280078" cy="474727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Isso não é muito prático se você for usar o módulo em diferentes redes wireless, ou precisa enviar o seu projeto de Automação Residencial ou IoT (Internet das Coisas) para um cliente. Imagine que ele precise alterar o nome da rede ou a senha. Normalmente, ele teria que retirar o ESP do circuito, reprogramar e devolver o módulo para o seu lugar.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Com o </a:t>
            </a:r>
            <a:r>
              <a:rPr lang="pt-BR" sz="2000" dirty="0" err="1"/>
              <a:t>WifiManager</a:t>
            </a:r>
            <a:r>
              <a:rPr lang="pt-BR" sz="2000" dirty="0"/>
              <a:t>, você configura o ESP32 por meio de uma página Web, gravando o SSID (nome da rede </a:t>
            </a:r>
            <a:r>
              <a:rPr lang="pt-BR" sz="2000" dirty="0" err="1"/>
              <a:t>wifi</a:t>
            </a:r>
            <a:r>
              <a:rPr lang="pt-BR" sz="2000" dirty="0"/>
              <a:t>) e senha em memória não volátil, ou seja, ao desligar a alimentação do ESP, essa informação não é perdida.</a:t>
            </a:r>
          </a:p>
        </p:txBody>
      </p:sp>
    </p:spTree>
    <p:extLst>
      <p:ext uri="{BB962C8B-B14F-4D97-AF65-F5344CB8AC3E}">
        <p14:creationId xmlns:p14="http://schemas.microsoft.com/office/powerpoint/2010/main" val="18487863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Comunicação de dados – WiFi</a:t>
            </a:r>
            <a:br>
              <a:rPr lang="pt-BR" dirty="0"/>
            </a:br>
            <a:r>
              <a:rPr lang="pt-BR" sz="2000" dirty="0" err="1"/>
              <a:t>WiFi</a:t>
            </a:r>
            <a:r>
              <a:rPr lang="pt-BR" sz="2000" dirty="0"/>
              <a:t> Manager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5018978" cy="479807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Utilizando um smartphone, um computador ou um tablet, em poucos minutos você pode alterar a configuração da rede wireless do seu módulo sem precisar mexer em uma única linha de código.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Com o </a:t>
            </a:r>
            <a:r>
              <a:rPr lang="pt-BR" sz="2000" dirty="0" err="1"/>
              <a:t>WifiManager</a:t>
            </a:r>
            <a:r>
              <a:rPr lang="pt-BR" sz="2000" dirty="0"/>
              <a:t>, você também pode definir outros parâmetros para configuração do seu ESP, como por exemplo o endereço de um broker MQTT.</a:t>
            </a:r>
          </a:p>
        </p:txBody>
      </p:sp>
      <p:pic>
        <p:nvPicPr>
          <p:cNvPr id="2050" name="Picture 2" descr="Circuito em funcionamento">
            <a:extLst>
              <a:ext uri="{FF2B5EF4-FFF2-40B4-BE49-F238E27FC236}">
                <a16:creationId xmlns:a16="http://schemas.microsoft.com/office/drawing/2014/main" id="{C97EA07C-77BD-37A1-BDF7-C47B306EA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800" y="2426493"/>
            <a:ext cx="6368074" cy="2866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330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/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WiFi Manager utilizando o kit </a:t>
            </a:r>
            <a:r>
              <a:rPr lang="pt-BR" sz="2000" dirty="0" err="1"/>
              <a:t>Mini-estação</a:t>
            </a:r>
            <a:r>
              <a:rPr lang="pt-BR" sz="2000" dirty="0"/>
              <a:t> IoT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5133278" cy="487427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Vamos utilizar nos testes do </a:t>
            </a:r>
            <a:r>
              <a:rPr lang="pt-BR" sz="2000" dirty="0" err="1"/>
              <a:t>WifiManager</a:t>
            </a:r>
            <a:r>
              <a:rPr lang="pt-BR" sz="2000" dirty="0"/>
              <a:t> o módulo ESP32 WROOM 32U. Você pode utilizar o circuito da mini estação IoT para executar o experimento, e o circuito básico para isso está mostrado na figura ao lado. O circuito é simples e é composto de um único botão com resistor de PULL-UP ligado a uma das entradas digitais do ESP32 (você pode utilizar nesse experimento o botão da esquerda conectado na GPIO 0)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64F252A-1EA9-DF81-4C2D-D6C5E8B7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270" y="1564630"/>
            <a:ext cx="6056272" cy="395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564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>
            <a:normAutofit/>
          </a:bodyPr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Instalação da biblioteca WiFi Manager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564630"/>
            <a:ext cx="5133278" cy="487427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Existem várias bibliotecas para você utilizar o </a:t>
            </a:r>
            <a:r>
              <a:rPr lang="pt-BR" sz="2000" dirty="0" err="1"/>
              <a:t>WifiManager</a:t>
            </a:r>
            <a:r>
              <a:rPr lang="pt-BR" sz="2000" dirty="0"/>
              <a:t>, inclusive para placas como STM32 e </a:t>
            </a:r>
            <a:r>
              <a:rPr lang="pt-BR" sz="2000" dirty="0" err="1"/>
              <a:t>Raspberry</a:t>
            </a:r>
            <a:r>
              <a:rPr lang="pt-BR" sz="2000" dirty="0"/>
              <a:t> Pi Pico. A biblioteca que será utilizada neste experimento é bem simples de usar e vai servir perfeitamente para os testes.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Para instalar a biblioteca, utilize o Gerenciador de Bibliotecas dentro do menu Sketch -&gt; Incluir Biblioteca -&gt; Gerenciar Bibliotecas.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Dentro do Gerenciador de Bibliotecas, procure por </a:t>
            </a:r>
            <a:r>
              <a:rPr lang="pt-BR" sz="2000" dirty="0" err="1"/>
              <a:t>wifimanager</a:t>
            </a:r>
            <a:r>
              <a:rPr lang="pt-BR" sz="2000" dirty="0"/>
              <a:t> e selecione a biblioteca:</a:t>
            </a:r>
          </a:p>
        </p:txBody>
      </p:sp>
      <p:pic>
        <p:nvPicPr>
          <p:cNvPr id="3074" name="Picture 2" descr="Instalação biblioteca WifiManager na IDE Arduino">
            <a:extLst>
              <a:ext uri="{FF2B5EF4-FFF2-40B4-BE49-F238E27FC236}">
                <a16:creationId xmlns:a16="http://schemas.microsoft.com/office/drawing/2014/main" id="{B645C61B-118E-9300-CF8F-696007C40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163" y="1344613"/>
            <a:ext cx="3495675" cy="482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36273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>
            <a:normAutofit/>
          </a:bodyPr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Programa de teste da WiFi Manager</a:t>
            </a:r>
            <a:endParaRPr lang="pt-B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D162C1-63DB-0B74-5C8C-EB4C8AE10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22" y="1344614"/>
            <a:ext cx="11407078" cy="5208586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A seguir apresentaremos o código comentado para uso da biblioteca </a:t>
            </a:r>
            <a:r>
              <a:rPr lang="pt-BR" sz="2000" dirty="0" err="1"/>
              <a:t>Wifi</a:t>
            </a:r>
            <a:r>
              <a:rPr lang="pt-BR" sz="2000" dirty="0"/>
              <a:t> Manager. Vamos utilizar como pino de reset no programa o GPIO 0, que é a conexão com o botão da esquerda na placa do kit </a:t>
            </a:r>
            <a:r>
              <a:rPr lang="pt-BR" sz="2000" dirty="0" err="1"/>
              <a:t>Mini-Estação</a:t>
            </a:r>
            <a:r>
              <a:rPr lang="pt-BR" sz="2000" dirty="0"/>
              <a:t> IoT. Se necessário, você pode utilizar outros pinos, sem problemas. Apenas consulte a documentação do módulo pois alguns pinos tem funções especiais que podem interferir no funcionamento do circuito e do programa.</a:t>
            </a:r>
          </a:p>
          <a:p>
            <a:pPr marL="0" indent="0">
              <a:lnSpc>
                <a:spcPct val="160000"/>
              </a:lnSpc>
              <a:buNone/>
            </a:pPr>
            <a:endParaRPr lang="pt-BR" sz="2000" dirty="0"/>
          </a:p>
          <a:p>
            <a:pPr marL="0" indent="0">
              <a:lnSpc>
                <a:spcPct val="160000"/>
              </a:lnSpc>
              <a:buNone/>
            </a:pPr>
            <a:r>
              <a:rPr lang="pt-BR" sz="2000" dirty="0"/>
              <a:t>O programa usa a </a:t>
            </a:r>
            <a:r>
              <a:rPr lang="pt-BR" sz="2000" dirty="0" err="1"/>
              <a:t>WifiManager</a:t>
            </a:r>
            <a:r>
              <a:rPr lang="pt-BR" sz="2000" dirty="0"/>
              <a:t> para criar um AP (Access Point) com o nome de ESP_TEC-DES_#, com senha abc@123 (linha 35) (</a:t>
            </a:r>
            <a:r>
              <a:rPr lang="pt-BR" sz="2000" dirty="0" err="1"/>
              <a:t>obs</a:t>
            </a:r>
            <a:r>
              <a:rPr lang="pt-BR" sz="2000" dirty="0"/>
              <a:t>: o # deve ser um número para diferenciar o AP dos experimentos de cada dupla). É nesse AP que vamos conectar para configurar o </a:t>
            </a:r>
            <a:r>
              <a:rPr lang="pt-BR" sz="2000" dirty="0" err="1"/>
              <a:t>Wifi</a:t>
            </a:r>
            <a:r>
              <a:rPr lang="pt-BR" sz="2000" dirty="0"/>
              <a:t> dos nossos módulos. </a:t>
            </a:r>
          </a:p>
        </p:txBody>
      </p:sp>
    </p:spTree>
    <p:extLst>
      <p:ext uri="{BB962C8B-B14F-4D97-AF65-F5344CB8AC3E}">
        <p14:creationId xmlns:p14="http://schemas.microsoft.com/office/powerpoint/2010/main" val="3590112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>
            <a:normAutofit/>
          </a:bodyPr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Programa de teste da WiFi Manager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D2588FA-016A-FBDB-067C-ABB99BE7D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7" y="1146299"/>
            <a:ext cx="10080000" cy="535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931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>
            <a:normAutofit/>
          </a:bodyPr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Programa de teste da WiFi Manager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640D487-ED0B-7F89-81B2-3228D0F56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0" y="1288638"/>
            <a:ext cx="10080000" cy="513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949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>
            <a:normAutofit/>
          </a:bodyPr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Programa de teste da WiFi Manager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8B5654B-FD55-DC44-62AA-D9431523E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0" y="1630569"/>
            <a:ext cx="10080000" cy="401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526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85F337F-D4BB-F2AA-7DCE-6126D2EA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298"/>
          </a:xfrm>
        </p:spPr>
        <p:txBody>
          <a:bodyPr>
            <a:normAutofit/>
          </a:bodyPr>
          <a:lstStyle/>
          <a:p>
            <a:r>
              <a:rPr lang="pt-BR" dirty="0"/>
              <a:t>ESP32 – Circuito </a:t>
            </a:r>
            <a:r>
              <a:rPr lang="pt-BR" dirty="0" err="1"/>
              <a:t>Wifi</a:t>
            </a:r>
            <a:r>
              <a:rPr lang="pt-BR" dirty="0"/>
              <a:t> Manager com ESP32</a:t>
            </a:r>
            <a:br>
              <a:rPr lang="pt-BR" dirty="0"/>
            </a:br>
            <a:r>
              <a:rPr lang="pt-BR" sz="2000" dirty="0"/>
              <a:t>Programa de teste da WiFi Manager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80159C1-3BA6-90AA-6F45-63A87C4BB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00" y="1284389"/>
            <a:ext cx="10080000" cy="528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043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7031</TotalTime>
  <Words>4330</Words>
  <Application>Microsoft Office PowerPoint</Application>
  <PresentationFormat>Widescreen</PresentationFormat>
  <Paragraphs>261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Calibri Light</vt:lpstr>
      <vt:lpstr>inherit</vt:lpstr>
      <vt:lpstr>Monaco</vt:lpstr>
      <vt:lpstr>Open Sans Light</vt:lpstr>
      <vt:lpstr>Tema do Office</vt:lpstr>
      <vt:lpstr>Apresentação do PowerPoint</vt:lpstr>
      <vt:lpstr>Técnico em Desenvolvimento de Sistemas</vt:lpstr>
      <vt:lpstr>Técnico em Desenvolvimento de Sistemas</vt:lpstr>
      <vt:lpstr>         Introdução ao ESP32  Módulo 3 Protocolos de Comunicação WiFi  </vt:lpstr>
      <vt:lpstr>Apresentação do PowerPoint</vt:lpstr>
      <vt:lpstr>ESP32 – Comunicação de dados – WiFi Biblioteca Wifi.h</vt:lpstr>
      <vt:lpstr>ESP32 – Comunicação de dados – WiFi Biblioteca Wifi.h – Exemplo 1 - ESP32 Wifi conectando-se a uma rede WiFi</vt:lpstr>
      <vt:lpstr>ESP32 – Comunicação de dados – WiFi Biblioteca Wifi.h – Exemplo 1 - ESP32 Wifi conectando-se a uma rede WiFi</vt:lpstr>
      <vt:lpstr>ESP32 – Comunicação de dados – WiFi Biblioteca Wifi.h – Exemplo 1 - ESP32 Wifi conectando-se a uma rede WiFi</vt:lpstr>
      <vt:lpstr>ESP32 – Comunicação de dados – WiFi Biblioteca Wifi.h – Exemplo 1 - ESP32 Wifi conectando-se a uma rede WiFi</vt:lpstr>
      <vt:lpstr>ESP32 – Comunicação de dados – WiFi Biblioteca Wifi.h – Exemplo 2 - ESP32 Wifi obtendo o endereço MAC</vt:lpstr>
      <vt:lpstr>ESP32 – Comunicação de dados – WiFi Biblioteca Wifi.h – Exemplo 1 - ESP32 Wifi conectando-se a uma rede WiFi</vt:lpstr>
      <vt:lpstr>ESP32 – Comunicação de dados – WiFi Biblioteca Wifi.h – Exemplo 1 - ESP32 Wifi conectando-se a uma rede WiFi</vt:lpstr>
      <vt:lpstr>ESP32 – Comunicação de dados – WiFi Biblioteca Wifi.h – Exemplo 1 - ESP32 Wifi conectando-se a uma rede WiFi</vt:lpstr>
      <vt:lpstr>ESP32 – Comunicação de dados – WiFi Biblioteca Wifi.h – Exemplo 1 - ESP32 Wifi conectando-se a uma rede WiFi</vt:lpstr>
      <vt:lpstr>ESP32 – Comunicação de dados – WiFi Biblioteca Wifi.h – Exemplo 2 - ESP32 Wifi conectando-se a uma rede e apresentando as informações da rede</vt:lpstr>
      <vt:lpstr>ESP32 – Comunicação de dados – WiFi Biblioteca Wifi.h – Exemplo 3 - ESP32 Wifi Executando um WebServer</vt:lpstr>
      <vt:lpstr>ESP32 – Comunicação de dados – WiFi Biblioteca Wifi.h – Exemplo 3 - ESP32 Wifi Executando um WebServer</vt:lpstr>
      <vt:lpstr>ESP32 – Comunicação de dados – WiFi Biblioteca Wifi.h – Exemplo 3 - ESP32 Wifi Executando um WebServer</vt:lpstr>
      <vt:lpstr>ESP32 – Comunicação de dados – WiFi Biblioteca Wifi.h – Exemplo 3 - ESP32 Wifi Executando um WebServer</vt:lpstr>
      <vt:lpstr>ESP32 – Comunicação de dados – WiFi Biblioteca Wifi.h – Exemplo 3 - ESP32 Wifi Executando um WebServer</vt:lpstr>
      <vt:lpstr>ESP32 – Comunicação de dados – WiFi Biblioteca Wifi.h – Exemplo 3 - ESP32 Wifi Executando um WebServer</vt:lpstr>
      <vt:lpstr>ESP32 – Comunicação de dados – WiFi Biblioteca Wifi.h – Exemplo 3 - ESP32 Wifi Executando um WebServer</vt:lpstr>
      <vt:lpstr>ESP32 – Comunicação de dados – WiFi Biblioteca Wifi.h – Exemplo 3 - ESP32 Wifi Executando um WebServer</vt:lpstr>
      <vt:lpstr>ESP32 – Comunicação de dados – WiFi Biblioteca Wifi.h – Exemplo 3 - ESP32 Wifi Executando um WebServer</vt:lpstr>
      <vt:lpstr>ESP32 – Comunicação de dados – WiFi Biblioteca Wifi.h – Exemplo 3 - ESP32 Wifi Executando um WebServer</vt:lpstr>
      <vt:lpstr>ESP32 – Comunicação de dados – WiFi Biblioteca Wifi.h – Exemplo 3 - ESP32 Wifi Executando um WebServer</vt:lpstr>
      <vt:lpstr>Apresentação do PowerPoint</vt:lpstr>
      <vt:lpstr>ESP32 – Comunicação de dados – WiFi Biblioteca Wifi.h – Exemplo 3 - ESP32 Wifi Executando um WebServer</vt:lpstr>
      <vt:lpstr>ESP32 – Comunicação de dados – WiFi Biblioteca Wifi.h – Exemplo 3 - ESP32 Wifi Executando um WebServer</vt:lpstr>
      <vt:lpstr>ESP32 – Comunicação de dados – WiFi Biblioteca Wifi.h – Exemplo 4 - ESP32 Wifi Executando um UDP Server</vt:lpstr>
      <vt:lpstr>ESP32 – Comunicação de dados – WiFi Biblioteca Wifi.h – Exemplo 4 - ESP32 Wifi Executando um UDP Server</vt:lpstr>
      <vt:lpstr>ESP32 – Comunicação de dados – WiFi Biblioteca Wifi.h – Exemplo 5 - ESP32 Wifi Executando um TCP Server</vt:lpstr>
      <vt:lpstr>ESP32 – Comunicação de dados – WiFi Biblioteca Wifi.h – Exemplo 5 - ESP32 Wifi Executando um TCP Server</vt:lpstr>
      <vt:lpstr>ESP32 – Comunicação de dados – WiFi Biblioteca Wifi.h – Exemplo 5 - ESP32 Wifi Executando um TCP Server</vt:lpstr>
      <vt:lpstr>ESP32 – Comunicação de dados – WiFi Biblioteca Wifi.h – Exemplo 5 - ESP32 Wifi Executando um TCP Server</vt:lpstr>
      <vt:lpstr>ESP32 – Comunicação de dados – WiFi Biblioteca Wifi.h – Exemplo 5 - ESP32 Wifi Executando um TCP Server</vt:lpstr>
      <vt:lpstr>ESP32 – Comunicação de dados – WiFi WiFi Manager</vt:lpstr>
      <vt:lpstr>ESP32 – Comunicação de dados – WiFi WiFi Manager</vt:lpstr>
      <vt:lpstr>ESP32 – Comunicação de dados – WiFi WiFi Manager</vt:lpstr>
      <vt:lpstr>ESP32 – Circuito Wifi Manager com ESP32 WiFi Manager utilizando o kit Mini-estação IoT</vt:lpstr>
      <vt:lpstr>ESP32 – Circuito Wifi Manager com ESP32 Instalação da biblioteca WiFi Manager</vt:lpstr>
      <vt:lpstr>ESP32 – Circuito Wifi Manager com ESP32 Programa de teste da WiFi Manager</vt:lpstr>
      <vt:lpstr>ESP32 – Circuito Wifi Manager com ESP32 Programa de teste da WiFi Manager</vt:lpstr>
      <vt:lpstr>ESP32 – Circuito Wifi Manager com ESP32 Programa de teste da WiFi Manager</vt:lpstr>
      <vt:lpstr>ESP32 – Circuito Wifi Manager com ESP32 Programa de teste da WiFi Manager</vt:lpstr>
      <vt:lpstr>ESP32 – Circuito Wifi Manager com ESP32 Programa de teste da WiFi Manager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ESP32</dc:title>
  <dc:creator>Gerson Trindade</dc:creator>
  <cp:lastModifiedBy>Gerson Trindade</cp:lastModifiedBy>
  <cp:revision>45</cp:revision>
  <dcterms:created xsi:type="dcterms:W3CDTF">2024-03-06T19:24:45Z</dcterms:created>
  <dcterms:modified xsi:type="dcterms:W3CDTF">2025-08-18T19:07:22Z</dcterms:modified>
</cp:coreProperties>
</file>