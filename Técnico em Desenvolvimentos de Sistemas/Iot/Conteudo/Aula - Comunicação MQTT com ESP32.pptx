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430" r:id="rId4"/>
    <p:sldId id="347" r:id="rId5"/>
    <p:sldId id="398" r:id="rId6"/>
    <p:sldId id="399" r:id="rId7"/>
    <p:sldId id="400" r:id="rId8"/>
    <p:sldId id="431" r:id="rId9"/>
    <p:sldId id="401" r:id="rId10"/>
    <p:sldId id="402" r:id="rId11"/>
    <p:sldId id="403" r:id="rId12"/>
    <p:sldId id="404" r:id="rId13"/>
    <p:sldId id="405" r:id="rId14"/>
    <p:sldId id="406" r:id="rId15"/>
    <p:sldId id="407" r:id="rId16"/>
    <p:sldId id="408" r:id="rId17"/>
    <p:sldId id="409" r:id="rId18"/>
    <p:sldId id="432" r:id="rId19"/>
    <p:sldId id="433" r:id="rId20"/>
    <p:sldId id="434" r:id="rId21"/>
    <p:sldId id="435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50" autoAdjust="0"/>
    <p:restoredTop sz="94660"/>
  </p:normalViewPr>
  <p:slideViewPr>
    <p:cSldViewPr snapToGrid="0">
      <p:cViewPr>
        <p:scale>
          <a:sx n="125" d="100"/>
          <a:sy n="125" d="100"/>
        </p:scale>
        <p:origin x="624" y="-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77F12-8EE0-8E50-6ECB-D38E56DE7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3CD66B-EDC8-3ED5-A1CF-B2E400FD8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FE579-A359-287A-A837-B13A236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5D2A1A-D7B2-4AD7-8D7C-2C544DD5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37BF57-3315-A5F8-1EF8-8749563E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523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82C14-CD9A-DC61-A5AE-D1E0CA40D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822F9D-C50F-9596-F1CA-DB8B54B0E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BBB9C8-608B-26F4-A3AF-BB65E8C5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833CA5-494F-CD2E-E2B6-81505B49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225F60-DE34-6DE7-7933-68E069A1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785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9437C-127F-F641-27E8-5D55BBF18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108DD9-6797-0C6D-43C0-75A74095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61D9AA-2158-ACF0-58CC-53312898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27F800-7CE1-F471-4B19-51359988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DDFCC5-95CA-550A-1D92-0473EC0B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82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4F8A-C340-D25A-3307-AC036893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9CA43-91C9-5FFF-AF5E-D2D22B338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6EE5E7-7BAF-2D22-98C0-0138689B4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A7F4DA-4FCE-F500-8E3F-23E6D11DD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324529-3F06-24C4-2079-3151D342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4DB876-1C4E-2E00-4545-1D7B84D9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49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1E15C-B7CD-4112-3E10-11E0AD93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963B4F-F9B7-0B27-C4A4-482FD1E45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F24E23-E25E-FB19-A025-55E4C5ADC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BCCDF7-D0B2-2CEE-925D-375002946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6B96BFB-0597-2899-0A5B-601FC0479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570746-AA74-6E87-5C77-3CFEBBD4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89DD85-1609-6018-E4DE-F96792C9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CAA0A08-5A31-13C0-DEB1-92742DC9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75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BBD8C-CB28-6CED-A850-4F28C2DC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E66B48-CDA4-5812-843E-D58A5B38F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5CD797-ABFE-7C45-3E1B-CE79B0B9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C3D140-F6A3-3C9D-0A61-036BC378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82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1463AE-71D0-FBCE-E22E-BFC81E1F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9416B0-09A0-C4C3-9B59-ABFF6C6CF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4AE6C0-B075-BF69-768C-380DC573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696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D2DB4-DFDD-D2C7-1B39-DFA9F05B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3A33A0-F3CB-BCF4-AE5C-79B340DC9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3052FA-6508-FD7F-2B3C-549733B16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25367E-EAEA-005B-953F-2DE90841F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0F1F40-6DED-1D3F-93C8-E7DA5DC2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02AB35-1110-7E25-5B15-0BEF75D8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630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E4397-122B-6FA3-E200-70E0FBD1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8D91E8-2EE6-4961-D979-5081A134E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18ECCB-3E03-7281-F88B-C514532B3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96043D-DB25-6668-04C2-1B559B83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EAEDF7-3D4B-6FD9-76D4-47ACB343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AF269A-CCDB-77A1-DCAF-E90B7C4C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4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18F72-92EC-9E4B-EB63-4F588951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C1D420-27A1-4694-9E7D-59889B3BD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F7909A-0877-D744-8345-1990B66D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F2BFE1-194E-BD80-742F-90624BFF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AFB879-1851-C773-6C0E-83B23D16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93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72EE07-858A-8227-1D24-397353224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227C95-1CB3-172B-9AF5-88FD91BA4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063B77-57DB-05D7-D74F-02EBA389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C777C8-A372-3932-DB99-E111D87D0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395311-C9DA-BE06-10E2-B72F25CB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577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[CT] Capa seçã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DE81F09-77C8-8AF0-5309-80196C62291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819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CT] Slide de título">
  <p:cSld name="[CT] Slide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Google Shape;12;p3">
            <a:extLst>
              <a:ext uri="{FF2B5EF4-FFF2-40B4-BE49-F238E27FC236}">
                <a16:creationId xmlns:a16="http://schemas.microsoft.com/office/drawing/2014/main" id="{CEB2130B-4070-CED1-DDE7-819F542A075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92833" y="960000"/>
            <a:ext cx="4326400" cy="20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9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3" name="Google Shape;13;p3">
            <a:extLst>
              <a:ext uri="{FF2B5EF4-FFF2-40B4-BE49-F238E27FC236}">
                <a16:creationId xmlns:a16="http://schemas.microsoft.com/office/drawing/2014/main" id="{871B8210-007B-E15F-BD9F-610FFA7BAF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92833" y="3418333"/>
            <a:ext cx="3808400" cy="29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128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05DD460-A6E3-4CD0-BC45-69DA3306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B261D1-5E1A-A1CA-50B6-8005BC048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ADB802-9D30-E343-B18C-CC86F0C40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5C1EE-88D3-48B5-A10B-D0BEBC526516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B69B10-818D-5F86-A4A1-572292535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E91260-D1CE-234F-8EF1-6C6978901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41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DE623-C3E1-33FE-7D53-E07BA4540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9224" y="1157224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916945-07C5-AE4B-36F4-5F34ADDB4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9224" y="3418333"/>
            <a:ext cx="5122921" cy="2933200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90F59656-152D-A34A-5580-73AD5801B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81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CCE3-E0A2-2679-9830-89AA0063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5E163-F368-8F03-864D-9727B0107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9645" y="379182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69B7A0-ADDB-CDDE-C5A8-B2D54A181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45" y="2503932"/>
            <a:ext cx="5122921" cy="3974885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  <a:p>
            <a:endParaRPr lang="pt-BR" dirty="0"/>
          </a:p>
          <a:p>
            <a:r>
              <a:rPr lang="pt-BR" dirty="0"/>
              <a:t>Aula 09: 4 horas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Protocolos de Comunicação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Comunicação MQTT com o ESP32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endParaRPr lang="pt-BR" dirty="0"/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B73DB14A-CDD9-C378-78B0-4E0D22042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86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mparação Entre Protocolos de Comunicação Serial - Tutoriais - RoboCore">
            <a:extLst>
              <a:ext uri="{FF2B5EF4-FFF2-40B4-BE49-F238E27FC236}">
                <a16:creationId xmlns:a16="http://schemas.microsoft.com/office/drawing/2014/main" id="{076A289A-8B7E-127B-081B-79FAA29A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298310"/>
            <a:ext cx="3810000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lustração de comunicação do ícone bluetooth | Vetor Premium">
            <a:extLst>
              <a:ext uri="{FF2B5EF4-FFF2-40B4-BE49-F238E27FC236}">
                <a16:creationId xmlns:a16="http://schemas.microsoft.com/office/drawing/2014/main" id="{1CD22AB6-8EA9-C07E-12DD-AD310236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9589" y="1528762"/>
            <a:ext cx="2117725" cy="211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uia de configuração da rede EDUROAM — IFRN - Instituto Federal do Rio  Grande do Norte">
            <a:extLst>
              <a:ext uri="{FF2B5EF4-FFF2-40B4-BE49-F238E27FC236}">
                <a16:creationId xmlns:a16="http://schemas.microsoft.com/office/drawing/2014/main" id="{D007F543-2AD9-A08F-A6DB-87E01F94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2" y="4635765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SP32: Detalhes internos e pinagem - Fernando K Tecnologia">
            <a:extLst>
              <a:ext uri="{FF2B5EF4-FFF2-40B4-BE49-F238E27FC236}">
                <a16:creationId xmlns:a16="http://schemas.microsoft.com/office/drawing/2014/main" id="{464D7BF0-9FC6-79F0-4427-175C1374C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898" y="1285610"/>
            <a:ext cx="50673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50636E9-2F09-EBDA-B2ED-77D88E37A60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516DEB-0410-4165-008C-0E85E4D8B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08000"/>
            <a:ext cx="12192000" cy="6858000"/>
          </a:xfrm>
        </p:spPr>
        <p:txBody>
          <a:bodyPr>
            <a:normAutofit fontScale="90000"/>
          </a:bodyPr>
          <a:lstStyle/>
          <a:p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r>
              <a:rPr lang="pt-BR" sz="8000" b="1" dirty="0">
                <a:solidFill>
                  <a:schemeClr val="bg1"/>
                </a:solidFill>
              </a:rPr>
              <a:t>Introdução ao ESP32</a:t>
            </a:r>
            <a:br>
              <a:rPr lang="pt-BR" sz="8000" b="1" dirty="0">
                <a:solidFill>
                  <a:schemeClr val="bg1"/>
                </a:solidFill>
              </a:rPr>
            </a:br>
            <a:br>
              <a:rPr lang="pt-BR" sz="80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Módulo 3</a:t>
            </a:r>
            <a:br>
              <a:rPr lang="pt-BR" sz="31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Protocolos de Comunicação</a:t>
            </a:r>
            <a:br>
              <a:rPr lang="pt-BR" sz="31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MQTT</a:t>
            </a:r>
            <a:br>
              <a:rPr lang="pt-BR" sz="3100" b="1" dirty="0">
                <a:solidFill>
                  <a:schemeClr val="bg1"/>
                </a:solidFill>
              </a:rPr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988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3E6F911-B0B3-03C8-5B5D-966718A6236B}"/>
              </a:ext>
            </a:extLst>
          </p:cNvPr>
          <p:cNvSpPr txBox="1">
            <a:spLocks/>
          </p:cNvSpPr>
          <p:nvPr/>
        </p:nvSpPr>
        <p:spPr>
          <a:xfrm>
            <a:off x="1363133" y="846667"/>
            <a:ext cx="9465734" cy="459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8200" b="1" dirty="0"/>
              <a:t>Comunicação </a:t>
            </a:r>
            <a:r>
              <a:rPr lang="pt-BR" sz="8200" b="1" dirty="0" err="1"/>
              <a:t>Mqtt</a:t>
            </a:r>
            <a:br>
              <a:rPr lang="pt-BR" sz="2800" b="1" dirty="0"/>
            </a:br>
            <a:br>
              <a:rPr lang="pt-BR" sz="2800" b="1" dirty="0"/>
            </a:br>
            <a:endParaRPr lang="pt-BR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E198EA-0464-5D4F-AC40-4A9426EDC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488" y="3534305"/>
            <a:ext cx="6820558" cy="173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02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/>
              <a:t>Introdução</a:t>
            </a:r>
            <a:endParaRPr lang="pt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67C0B-C411-2AFF-1832-205AA17F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11280078" cy="4954504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MQTT(</a:t>
            </a:r>
            <a:r>
              <a:rPr lang="pt-BR" sz="2000" dirty="0" err="1"/>
              <a:t>Message</a:t>
            </a:r>
            <a:r>
              <a:rPr lang="pt-BR" sz="2000" dirty="0"/>
              <a:t> </a:t>
            </a:r>
            <a:r>
              <a:rPr lang="pt-BR" sz="2000" dirty="0" err="1"/>
              <a:t>Queuing</a:t>
            </a:r>
            <a:r>
              <a:rPr lang="pt-BR" sz="2000" dirty="0"/>
              <a:t> </a:t>
            </a:r>
            <a:r>
              <a:rPr lang="pt-BR" sz="2000" dirty="0" err="1"/>
              <a:t>Telemetry</a:t>
            </a:r>
            <a:r>
              <a:rPr lang="pt-BR" sz="2000" dirty="0"/>
              <a:t> </a:t>
            </a:r>
            <a:r>
              <a:rPr lang="pt-BR" sz="2000" dirty="0" err="1"/>
              <a:t>Transport</a:t>
            </a:r>
            <a:r>
              <a:rPr lang="pt-BR" sz="2000" dirty="0"/>
              <a:t>) é um protocolo de comunicação máquina para máquina (M2M - Machine </a:t>
            </a:r>
            <a:r>
              <a:rPr lang="pt-BR" sz="2000" dirty="0" err="1"/>
              <a:t>to</a:t>
            </a:r>
            <a:r>
              <a:rPr lang="pt-BR" sz="2000" dirty="0"/>
              <a:t> Machine) com foco em Internet </a:t>
            </a:r>
            <a:r>
              <a:rPr lang="pt-BR" sz="2000" dirty="0" err="1"/>
              <a:t>of</a:t>
            </a:r>
            <a:r>
              <a:rPr lang="pt-BR" sz="2000" dirty="0"/>
              <a:t> </a:t>
            </a:r>
            <a:r>
              <a:rPr lang="pt-BR" sz="2000" dirty="0" err="1"/>
              <a:t>Things</a:t>
            </a:r>
            <a:r>
              <a:rPr lang="pt-BR" sz="2000" dirty="0"/>
              <a:t> (IoT) que funciona em cima do protocolo TCP/IP. Um sistema MQTT se baseia na comunicação entre cliente e servidor, em que o primeiro pode realizar tanto “postagens” quanto “captação” de informação e o segundo administra os dados a serem recebidos e enviados. Para isso, é utilizado um Paradigma chamado </a:t>
            </a:r>
            <a:r>
              <a:rPr lang="pt-BR" sz="2000" b="1" i="1" dirty="0" err="1"/>
              <a:t>Publish-Subscribe</a:t>
            </a:r>
            <a:r>
              <a:rPr lang="pt-BR" sz="2000" dirty="0"/>
              <a:t>, que será melhor explicado nos próximos tópicos. O protocolo se popularizou pela simplicidade, baixo consumo de dados e pela possibilidade de comunicação bilateral.</a:t>
            </a:r>
          </a:p>
        </p:txBody>
      </p:sp>
    </p:spTree>
    <p:extLst>
      <p:ext uri="{BB962C8B-B14F-4D97-AF65-F5344CB8AC3E}">
        <p14:creationId xmlns:p14="http://schemas.microsoft.com/office/powerpoint/2010/main" val="77671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/>
              <a:t>Como surgiu</a:t>
            </a:r>
            <a:endParaRPr lang="pt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67C0B-C411-2AFF-1832-205AA17F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320800"/>
            <a:ext cx="11280078" cy="5198334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Nos anos 90 a IBM criou o protocolo MQTT. Sua origem se deu à necessidade de um protocolo simples e leve que conseguisse comunicar várias máquinas entre si, uma comunicação que ocorreria utilizando microcontroladores para a obtenção de dados que tivesse uma taxa de transmissão leve para a comunicação entre as máquinas e os sensores.</a:t>
            </a:r>
          </a:p>
          <a:p>
            <a:pPr marL="0" indent="0">
              <a:lnSpc>
                <a:spcPct val="160000"/>
              </a:lnSpc>
              <a:buNone/>
            </a:pPr>
            <a:endParaRPr lang="pt-BR" sz="2000" dirty="0"/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Devido à tão importante funcionalidade de “criar uma conexão” entre pequenos sensores e as máquinas onde esses dados serão tratados, o MQTT é visto como uma das principais tecnologias que podem tanto participar quanto impulsionar o desenvolvimento de uma nova “rede”, a chamada Internet das Coisas (IoT), que já está mostrando sua importância há muito tempo e, com certeza, ganhará ainda mais foco nos próximos anos.</a:t>
            </a:r>
          </a:p>
        </p:txBody>
      </p:sp>
    </p:spTree>
    <p:extLst>
      <p:ext uri="{BB962C8B-B14F-4D97-AF65-F5344CB8AC3E}">
        <p14:creationId xmlns:p14="http://schemas.microsoft.com/office/powerpoint/2010/main" val="3029845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CB16A11-62B5-D16D-FCB8-87A5B3E47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/>
              <a:t>Arquitetura MQTT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6C4B895-6503-C59D-845B-D54D4BDFFE06}"/>
              </a:ext>
            </a:extLst>
          </p:cNvPr>
          <p:cNvSpPr txBox="1"/>
          <p:nvPr/>
        </p:nvSpPr>
        <p:spPr>
          <a:xfrm>
            <a:off x="543983" y="1476450"/>
            <a:ext cx="10826750" cy="1971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Broker (Node-RED ou </a:t>
            </a:r>
            <a:r>
              <a:rPr lang="pt-BR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Mosquitto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Gerencia as mensagens.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Publisher (ESP32 ou outro cliente)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Envia dados (ex.: temperatura).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Subscriber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(ESP32 ou Node-RED)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Recebe dados e executa ações.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BR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Diagrama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pt-BR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40AF9F1-AD4B-F703-2B60-AD8B3E6B5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021" y="2941371"/>
            <a:ext cx="7039957" cy="382005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F041877-A786-7557-4119-07904C35B4AB}"/>
              </a:ext>
            </a:extLst>
          </p:cNvPr>
          <p:cNvSpPr txBox="1"/>
          <p:nvPr/>
        </p:nvSpPr>
        <p:spPr>
          <a:xfrm>
            <a:off x="2870200" y="4919960"/>
            <a:ext cx="143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Publisher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B2B5BD9-DD08-3F79-0BA9-C08C7A534E44}"/>
              </a:ext>
            </a:extLst>
          </p:cNvPr>
          <p:cNvSpPr txBox="1"/>
          <p:nvPr/>
        </p:nvSpPr>
        <p:spPr>
          <a:xfrm>
            <a:off x="7069666" y="5605760"/>
            <a:ext cx="143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Subscriber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1241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 err="1"/>
              <a:t>Publish-subscribe</a:t>
            </a:r>
            <a:endParaRPr lang="pt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67C0B-C411-2AFF-1832-205AA17F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320800"/>
            <a:ext cx="11280078" cy="3234267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Para entendermos o padrão </a:t>
            </a:r>
            <a:r>
              <a:rPr lang="pt-BR" sz="2000" b="1" i="1" dirty="0" err="1"/>
              <a:t>Publish-Subscribe</a:t>
            </a:r>
            <a:r>
              <a:rPr lang="pt-BR" sz="2000" dirty="0"/>
              <a:t>, iremos compará-lo com os padrões </a:t>
            </a:r>
            <a:r>
              <a:rPr lang="pt-BR" sz="2000" b="1" i="1" dirty="0" err="1"/>
              <a:t>Request</a:t>
            </a:r>
            <a:r>
              <a:rPr lang="pt-BR" sz="2000" b="1" i="1" dirty="0"/>
              <a:t>-Response</a:t>
            </a:r>
            <a:r>
              <a:rPr lang="pt-BR" sz="2000" dirty="0"/>
              <a:t> e </a:t>
            </a:r>
            <a:r>
              <a:rPr lang="pt-BR" sz="2000" b="1" i="1" dirty="0" err="1"/>
              <a:t>Observer</a:t>
            </a:r>
            <a:r>
              <a:rPr lang="pt-BR" sz="2000" dirty="0"/>
              <a:t>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No padrão </a:t>
            </a:r>
            <a:r>
              <a:rPr lang="pt-BR" sz="2000" b="1" i="1" dirty="0" err="1"/>
              <a:t>Request</a:t>
            </a:r>
            <a:r>
              <a:rPr lang="pt-BR" sz="2000" b="1" i="1" dirty="0"/>
              <a:t>-Response</a:t>
            </a:r>
            <a:r>
              <a:rPr lang="pt-BR" sz="2000" dirty="0"/>
              <a:t> nós possuímos dois atores: </a:t>
            </a:r>
            <a:r>
              <a:rPr lang="pt-BR" sz="2000" b="1" i="1" dirty="0"/>
              <a:t>Cliente</a:t>
            </a:r>
            <a:r>
              <a:rPr lang="pt-BR" sz="2000" dirty="0"/>
              <a:t> e </a:t>
            </a:r>
            <a:r>
              <a:rPr lang="pt-BR" sz="2000" b="1" i="1" dirty="0"/>
              <a:t>Servidor</a:t>
            </a:r>
            <a:r>
              <a:rPr lang="pt-BR" sz="2000" dirty="0"/>
              <a:t>. Nesse protocolo o servidor fica o tempo todo ouvindo requisições que podem chegar dos seus cliente, porém ele estabelece uma conexão apenas temporária com o servidor, a medida que for realizando as requisições e obtendo as respostas, após isso a conexão é quebrada e o cliente não será notificado de nenhuma modificação.</a:t>
            </a:r>
          </a:p>
        </p:txBody>
      </p:sp>
      <p:pic>
        <p:nvPicPr>
          <p:cNvPr id="2050" name="Picture 2" descr="...">
            <a:extLst>
              <a:ext uri="{FF2B5EF4-FFF2-40B4-BE49-F238E27FC236}">
                <a16:creationId xmlns:a16="http://schemas.microsoft.com/office/drawing/2014/main" id="{D811AE81-0138-986B-71F9-4EBBF76E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641850"/>
            <a:ext cx="60960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23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 err="1"/>
              <a:t>Publish-subscribe</a:t>
            </a:r>
            <a:endParaRPr lang="pt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67C0B-C411-2AFF-1832-205AA17F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320800"/>
            <a:ext cx="11280078" cy="3234267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No padrão </a:t>
            </a:r>
            <a:r>
              <a:rPr lang="pt-BR" sz="2000" b="1" i="1" dirty="0" err="1"/>
              <a:t>Observer</a:t>
            </a:r>
            <a:r>
              <a:rPr lang="pt-BR" sz="2000" dirty="0"/>
              <a:t> possuímos dois atores principais: os observadores (</a:t>
            </a:r>
            <a:r>
              <a:rPr lang="pt-BR" sz="2000" b="1" i="1" dirty="0" err="1"/>
              <a:t>observer</a:t>
            </a:r>
            <a:r>
              <a:rPr lang="pt-BR" sz="2000" dirty="0"/>
              <a:t>) e o sujeito (</a:t>
            </a:r>
            <a:r>
              <a:rPr lang="pt-BR" sz="2000" b="1" i="1" dirty="0" err="1"/>
              <a:t>subject</a:t>
            </a:r>
            <a:r>
              <a:rPr lang="pt-BR" sz="2000" dirty="0"/>
              <a:t>). Os observadores irão realizar uma requisição para se inscrever no </a:t>
            </a:r>
            <a:r>
              <a:rPr lang="pt-BR" sz="2000" b="1" i="1" dirty="0" err="1"/>
              <a:t>subject</a:t>
            </a:r>
            <a:r>
              <a:rPr lang="pt-BR" sz="2000" dirty="0"/>
              <a:t> e dessa forma ser notificado quando houver alguma mudança de estado, o sujeito irá possuir uma lista dos seus observadores para que ele saiba para quem enviar as notificações quando houver a mudança de estado. Caso não seja mais interessante ao sujeito enviar informações para um observador específico ou o observador não se interessa mais pelo estado do sujeito, a inscrição pode ser desfeita.</a:t>
            </a:r>
          </a:p>
        </p:txBody>
      </p:sp>
      <p:pic>
        <p:nvPicPr>
          <p:cNvPr id="3074" name="Picture 2" descr="...">
            <a:extLst>
              <a:ext uri="{FF2B5EF4-FFF2-40B4-BE49-F238E27FC236}">
                <a16:creationId xmlns:a16="http://schemas.microsoft.com/office/drawing/2014/main" id="{7FE30533-459C-A62B-70AE-4BE91F5A7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733" y="4003604"/>
            <a:ext cx="5808133" cy="271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4645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 err="1"/>
              <a:t>Publish-subscribe</a:t>
            </a:r>
            <a:endParaRPr lang="pt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67C0B-C411-2AFF-1832-205AA17F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61" y="1146299"/>
            <a:ext cx="11280078" cy="3234267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O Padrão </a:t>
            </a:r>
            <a:r>
              <a:rPr lang="pt-BR" sz="2000" b="1" i="1" dirty="0" err="1"/>
              <a:t>Publish-Subscribe</a:t>
            </a:r>
            <a:r>
              <a:rPr lang="pt-BR" sz="2000" dirty="0"/>
              <a:t> é muito parecido com o padrão </a:t>
            </a:r>
            <a:r>
              <a:rPr lang="pt-BR" sz="2000" b="1" i="1" dirty="0"/>
              <a:t>Observe</a:t>
            </a:r>
            <a:r>
              <a:rPr lang="pt-BR" sz="2000" dirty="0"/>
              <a:t>, porém nesse caso adicionamos o papel do </a:t>
            </a:r>
            <a:r>
              <a:rPr lang="pt-BR" sz="2000" b="1" dirty="0"/>
              <a:t>Broker</a:t>
            </a:r>
            <a:r>
              <a:rPr lang="pt-BR" sz="2000" dirty="0"/>
              <a:t>, que é responsável por filtrar as mensagens e saber exatamente para quem enviar. Dessa forma, o </a:t>
            </a:r>
            <a:r>
              <a:rPr lang="pt-BR" sz="2000" b="1" i="1" dirty="0" err="1"/>
              <a:t>publisher</a:t>
            </a:r>
            <a:r>
              <a:rPr lang="pt-BR" sz="2000" dirty="0"/>
              <a:t> e </a:t>
            </a:r>
            <a:r>
              <a:rPr lang="pt-BR" sz="2000" b="1" i="1" dirty="0" err="1"/>
              <a:t>subscriber</a:t>
            </a:r>
            <a:r>
              <a:rPr lang="pt-BR" sz="2000" dirty="0"/>
              <a:t> não precisam se conhecer diretamente e apenas precisam conhecer o </a:t>
            </a:r>
            <a:r>
              <a:rPr lang="pt-BR" sz="2000" b="1" dirty="0"/>
              <a:t>Broker</a:t>
            </a:r>
            <a:r>
              <a:rPr lang="pt-BR" sz="2000" dirty="0"/>
              <a:t>, que é quem fará a notificação da mudança de estados e enviará essa informação para aqueles que tiverem inscritos no tópico referenciado. Por fim, o </a:t>
            </a:r>
            <a:r>
              <a:rPr lang="pt-BR" sz="2000" b="1" i="1" dirty="0" err="1"/>
              <a:t>publish</a:t>
            </a:r>
            <a:r>
              <a:rPr lang="pt-BR" sz="2000" dirty="0"/>
              <a:t> precisa se preocupar apenas com enviar as informações e estabelecer a conexão exclusivamente com o </a:t>
            </a:r>
            <a:r>
              <a:rPr lang="pt-BR" sz="2000" b="1" dirty="0"/>
              <a:t>Broker</a:t>
            </a:r>
            <a:r>
              <a:rPr lang="pt-BR" sz="2000" dirty="0"/>
              <a:t>.</a:t>
            </a:r>
          </a:p>
        </p:txBody>
      </p:sp>
      <p:pic>
        <p:nvPicPr>
          <p:cNvPr id="4098" name="Picture 2" descr="...">
            <a:extLst>
              <a:ext uri="{FF2B5EF4-FFF2-40B4-BE49-F238E27FC236}">
                <a16:creationId xmlns:a16="http://schemas.microsoft.com/office/drawing/2014/main" id="{36DB20BB-A473-C301-DB95-16EE0F310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4194175"/>
            <a:ext cx="428625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270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/>
              <a:t>Como funciona</a:t>
            </a:r>
            <a:endParaRPr lang="pt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67C0B-C411-2AFF-1832-205AA17F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61" y="1146299"/>
            <a:ext cx="11280078" cy="472110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b="1" dirty="0"/>
              <a:t>Atores do Sistema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b="1" i="1" dirty="0"/>
              <a:t>Broker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O Broker é o servidor intermediário da informação. É ele quem recebe os dados enviados pelos sensores e é nele onde esses dados são tratados e passados adiante. Podem existir mais de um broker em um sistema, que vão compartilhar os dados recebidos entre si baseado nos clientes que possuem e nos dados requisitados por eles.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b="1" i="1" dirty="0"/>
              <a:t>Cliente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O Cliente possui duas áreas de atuação sobre a informação: Postagem e Recebimento, "</a:t>
            </a:r>
            <a:r>
              <a:rPr lang="pt-BR" sz="2000" b="1" i="1" dirty="0" err="1"/>
              <a:t>publish</a:t>
            </a:r>
            <a:r>
              <a:rPr lang="pt-BR" sz="2000" dirty="0"/>
              <a:t>" e "</a:t>
            </a:r>
            <a:r>
              <a:rPr lang="pt-BR" sz="2000" b="1" i="1" dirty="0" err="1"/>
              <a:t>subscriber</a:t>
            </a:r>
            <a:r>
              <a:rPr lang="pt-BR" sz="2000" dirty="0"/>
              <a:t>", respectivamente. Ele pode escolher em qual área atuar, sendo possível trabalhar na Postagem, no Recebimento ou nos dois ao mesmo tempo. Mas independente de qual caso ele escolha, sempre será necessária a presença de um </a:t>
            </a:r>
            <a:r>
              <a:rPr lang="pt-BR" sz="2000" b="1" dirty="0"/>
              <a:t>Broker</a:t>
            </a:r>
            <a:r>
              <a:rPr lang="pt-BR" sz="2000" dirty="0"/>
              <a:t> para realizar a intermediação dos dados entre todos os clientes.</a:t>
            </a:r>
          </a:p>
        </p:txBody>
      </p:sp>
    </p:spTree>
    <p:extLst>
      <p:ext uri="{BB962C8B-B14F-4D97-AF65-F5344CB8AC3E}">
        <p14:creationId xmlns:p14="http://schemas.microsoft.com/office/powerpoint/2010/main" val="2848448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/>
              <a:t>Transmissão de dados</a:t>
            </a:r>
            <a:endParaRPr lang="pt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67C0B-C411-2AFF-1832-205AA17F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61" y="1552700"/>
            <a:ext cx="11280078" cy="2341968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O protocolo MQTT utiliza outro protocolo chamado TCP para a transmissão de dados. Além do TCP, também é usado o MQTT-SN, que é usado para outros tipos de transporte como UDP ou Bluetooth.</a:t>
            </a:r>
          </a:p>
        </p:txBody>
      </p:sp>
      <p:pic>
        <p:nvPicPr>
          <p:cNvPr id="1026" name="Picture 2" descr="Broker MQTT | Aprendiendo Arduino">
            <a:extLst>
              <a:ext uri="{FF2B5EF4-FFF2-40B4-BE49-F238E27FC236}">
                <a16:creationId xmlns:a16="http://schemas.microsoft.com/office/drawing/2014/main" id="{F42EB143-1562-2C1F-C76F-D48EDE349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082" y="2944906"/>
            <a:ext cx="7337836" cy="3036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5939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/>
              <a:t>Cabeçalho (Header)</a:t>
            </a:r>
            <a:endParaRPr lang="pt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67C0B-C411-2AFF-1832-205AA17F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61" y="1146299"/>
            <a:ext cx="11280078" cy="4721101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O Header do MQTT pode variar de 2 a 5 bytes. Em relação ao primeiro byte obrigatório, os 4 primeiros bits referem-se ao tipo de mensagem, o bit seguinte refere-se ao indicador de mensagem duplicada, dois bits para identificar o </a:t>
            </a:r>
            <a:r>
              <a:rPr lang="pt-BR" sz="2000" dirty="0" err="1"/>
              <a:t>QoS</a:t>
            </a:r>
            <a:r>
              <a:rPr lang="pt-BR" sz="2000" dirty="0"/>
              <a:t>(qualidade de serviço) do pacote e bit para indicar se a mensagem deve ser retida ou não para quando alguém se conectar receber a última mensagem enviada. Os próximos 4 bytes irão definir o tamanho do resto do pacote, podendo ir de 0 a 268 435 455 bits. O restante são informações que podem variar e não existe um padrão.</a:t>
            </a:r>
          </a:p>
        </p:txBody>
      </p:sp>
      <p:pic>
        <p:nvPicPr>
          <p:cNvPr id="5122" name="Picture 2" descr="...">
            <a:extLst>
              <a:ext uri="{FF2B5EF4-FFF2-40B4-BE49-F238E27FC236}">
                <a16:creationId xmlns:a16="http://schemas.microsoft.com/office/drawing/2014/main" id="{A57B185D-8F0F-8149-459E-E56F4794A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889" y="4131733"/>
            <a:ext cx="767715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341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/>
              <a:t>Tipos de Mensagens</a:t>
            </a:r>
            <a:endParaRPr lang="pt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67C0B-C411-2AFF-1832-205AA17F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11269133" cy="5350933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Primeiramente iremos falar dos 3 principais tipos de mensagem e em seguida teremos uma tabela com todos os tipos de mensagens disponíveis no protocolo e respetivos valores que devem ser enviados no header para identificar a mensagem.</a:t>
            </a:r>
          </a:p>
          <a:p>
            <a:pPr marL="0" indent="0">
              <a:lnSpc>
                <a:spcPct val="160000"/>
              </a:lnSpc>
              <a:buNone/>
            </a:pPr>
            <a:endParaRPr lang="pt-BR" sz="2000" dirty="0"/>
          </a:p>
          <a:p>
            <a:pPr marL="0" indent="0">
              <a:lnSpc>
                <a:spcPct val="160000"/>
              </a:lnSpc>
              <a:buNone/>
            </a:pPr>
            <a:r>
              <a:rPr lang="pt-BR" sz="2000" b="1" i="1" dirty="0"/>
              <a:t>Connect</a:t>
            </a:r>
            <a:r>
              <a:rPr lang="pt-BR" sz="2000" dirty="0"/>
              <a:t> : Tenta criar uma conexão com o Broker e espera até que a conexão seja estabelecida, começando a escutar as mensagens publicadas.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b="1" i="1" dirty="0" err="1"/>
              <a:t>Disconnect</a:t>
            </a:r>
            <a:r>
              <a:rPr lang="pt-BR" sz="2000" dirty="0"/>
              <a:t>: Espera até o cliente terminar alguma ação que esteja realizando e finaliza a conexão TCP/IP, parando assim de escutar as mensagens que serão publicadas.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b="1" i="1" dirty="0" err="1"/>
              <a:t>Publish</a:t>
            </a:r>
            <a:r>
              <a:rPr lang="pt-BR" sz="2000" dirty="0"/>
              <a:t>:  Retorna a informação que foi enviada pelo cliente MQTT.</a:t>
            </a:r>
          </a:p>
          <a:p>
            <a:pPr marL="0" indent="0">
              <a:lnSpc>
                <a:spcPct val="160000"/>
              </a:lnSpc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031340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5553FAAE-BA69-B566-ACA2-8802BCCC0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671438"/>
              </p:ext>
            </p:extLst>
          </p:nvPr>
        </p:nvGraphicFramePr>
        <p:xfrm>
          <a:off x="410633" y="533399"/>
          <a:ext cx="11370733" cy="6195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>
                  <a:extLst>
                    <a:ext uri="{9D8B030D-6E8A-4147-A177-3AD203B41FA5}">
                      <a16:colId xmlns:a16="http://schemas.microsoft.com/office/drawing/2014/main" val="2455518968"/>
                    </a:ext>
                  </a:extLst>
                </a:gridCol>
                <a:gridCol w="2574044">
                  <a:extLst>
                    <a:ext uri="{9D8B030D-6E8A-4147-A177-3AD203B41FA5}">
                      <a16:colId xmlns:a16="http://schemas.microsoft.com/office/drawing/2014/main" val="503789014"/>
                    </a:ext>
                  </a:extLst>
                </a:gridCol>
                <a:gridCol w="3912433">
                  <a:extLst>
                    <a:ext uri="{9D8B030D-6E8A-4147-A177-3AD203B41FA5}">
                      <a16:colId xmlns:a16="http://schemas.microsoft.com/office/drawing/2014/main" val="215010656"/>
                    </a:ext>
                  </a:extLst>
                </a:gridCol>
                <a:gridCol w="4031451">
                  <a:extLst>
                    <a:ext uri="{9D8B030D-6E8A-4147-A177-3AD203B41FA5}">
                      <a16:colId xmlns:a16="http://schemas.microsoft.com/office/drawing/2014/main" val="1147259269"/>
                    </a:ext>
                  </a:extLst>
                </a:gridCol>
              </a:tblGrid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Direção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Descrição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807283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Reservado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Proibido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Reservado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674521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CONNECT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Cliente para Servidor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Requisição do cliente para conectar ao servidor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688311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CONNACK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Servidor para 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Reconhecimento da conexão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162910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PUBLISH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Cliente para Servidor ou Servidor para 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Publicar mensagem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164215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PUBACK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Cliente para Servidor ou Servidor para 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Reconhecimento da publicação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782760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PUBREC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Publicação recebida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Publicação recebida(parte 2 do </a:t>
                      </a:r>
                      <a:r>
                        <a:rPr lang="pt-BR" dirty="0" err="1"/>
                        <a:t>QoS</a:t>
                      </a:r>
                      <a:r>
                        <a:rPr lang="pt-BR" dirty="0"/>
                        <a:t>-=1)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8517522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PUBREL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Cliente para Servidor ou Servidor para 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Publicação lançada(parte 2 do </a:t>
                      </a:r>
                      <a:r>
                        <a:rPr lang="pt-BR" dirty="0" err="1"/>
                        <a:t>QoS</a:t>
                      </a:r>
                      <a:r>
                        <a:rPr lang="pt-BR" dirty="0"/>
                        <a:t>-=1)</a:t>
                      </a:r>
                    </a:p>
                    <a:p>
                      <a:pPr algn="ctr"/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808878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PUBCOMP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Cliente para Servidor ou Servidor para 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Publicação completa(parte 3 do </a:t>
                      </a:r>
                      <a:r>
                        <a:rPr lang="pt-BR" dirty="0" err="1"/>
                        <a:t>QoS</a:t>
                      </a:r>
                      <a:r>
                        <a:rPr lang="pt-BR" dirty="0"/>
                        <a:t>-=1)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262282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SUBSCRIBE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Cliente para Servidor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Pedido de inscrição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090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741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5553FAAE-BA69-B566-ACA2-8802BCCC0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417759"/>
              </p:ext>
            </p:extLst>
          </p:nvPr>
        </p:nvGraphicFramePr>
        <p:xfrm>
          <a:off x="410633" y="533399"/>
          <a:ext cx="11370733" cy="4792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>
                  <a:extLst>
                    <a:ext uri="{9D8B030D-6E8A-4147-A177-3AD203B41FA5}">
                      <a16:colId xmlns:a16="http://schemas.microsoft.com/office/drawing/2014/main" val="2455518968"/>
                    </a:ext>
                  </a:extLst>
                </a:gridCol>
                <a:gridCol w="2574044">
                  <a:extLst>
                    <a:ext uri="{9D8B030D-6E8A-4147-A177-3AD203B41FA5}">
                      <a16:colId xmlns:a16="http://schemas.microsoft.com/office/drawing/2014/main" val="503789014"/>
                    </a:ext>
                  </a:extLst>
                </a:gridCol>
                <a:gridCol w="3912433">
                  <a:extLst>
                    <a:ext uri="{9D8B030D-6E8A-4147-A177-3AD203B41FA5}">
                      <a16:colId xmlns:a16="http://schemas.microsoft.com/office/drawing/2014/main" val="215010656"/>
                    </a:ext>
                  </a:extLst>
                </a:gridCol>
                <a:gridCol w="4031451">
                  <a:extLst>
                    <a:ext uri="{9D8B030D-6E8A-4147-A177-3AD203B41FA5}">
                      <a16:colId xmlns:a16="http://schemas.microsoft.com/office/drawing/2014/main" val="1147259269"/>
                    </a:ext>
                  </a:extLst>
                </a:gridCol>
              </a:tblGrid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Direção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Descrição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807283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SUBACK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Servidor para 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Reconhecimento de inscrição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674521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UNSUBSCRIBE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Cliente para Servidor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Pedido de </a:t>
                      </a:r>
                      <a:r>
                        <a:rPr lang="pt-BR" dirty="0" err="1"/>
                        <a:t>desinscrição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688311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UNSUBACK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Servidor para 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Reconhecimento </a:t>
                      </a:r>
                      <a:r>
                        <a:rPr lang="pt-BR" dirty="0" err="1"/>
                        <a:t>desinscrição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162910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PINGREQ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Requisição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Requisição 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164215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PINGRESP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Servidor para 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Resposta 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782760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DISCONNECTY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Cliente para Servidor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Cliente está desconectado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8517522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Reservado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Proibido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Reservado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808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183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7AAF-8CCF-889F-35FD-4D41DA1B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0F63B8F-B7E4-3B3F-8357-950DCCD14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/>
              <a:t>Estrutura do Código no ESP32</a:t>
            </a:r>
            <a:endParaRPr lang="pt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CFA9DF-4FAC-4B96-34AB-7E988CDC3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61" y="1146299"/>
            <a:ext cx="11280078" cy="4721101"/>
          </a:xfrm>
        </p:spPr>
        <p:txBody>
          <a:bodyPr>
            <a:normAutofit/>
          </a:bodyPr>
          <a:lstStyle/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r>
              <a:rPr lang="pt-BR" dirty="0"/>
              <a:t>Conectar ao Wi-Fi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r>
              <a:rPr lang="pt-BR" dirty="0"/>
              <a:t>Configurar servidor MQTT (</a:t>
            </a:r>
            <a:r>
              <a:rPr lang="pt-BR" dirty="0" err="1">
                <a:solidFill>
                  <a:srgbClr val="0070C0"/>
                </a:solidFill>
                <a:latin typeface="Consolas" panose="020B0609020204030204" pitchFamily="49" charset="0"/>
              </a:rPr>
              <a:t>setServer</a:t>
            </a:r>
            <a:r>
              <a:rPr lang="pt-BR" dirty="0"/>
              <a:t>)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r>
              <a:rPr lang="pt-BR" dirty="0"/>
              <a:t>Definir a função de </a:t>
            </a:r>
            <a:r>
              <a:rPr lang="pt-BR" b="1" i="1" dirty="0" err="1"/>
              <a:t>callback</a:t>
            </a:r>
            <a:r>
              <a:rPr lang="pt-BR" dirty="0"/>
              <a:t> (</a:t>
            </a:r>
            <a:r>
              <a:rPr lang="pt-BR" i="1" dirty="0" err="1">
                <a:solidFill>
                  <a:srgbClr val="0070C0"/>
                </a:solidFill>
                <a:latin typeface="Consolas" panose="020B0609020204030204" pitchFamily="49" charset="0"/>
              </a:rPr>
              <a:t>setCallback</a:t>
            </a:r>
            <a:r>
              <a:rPr lang="pt-BR" dirty="0"/>
              <a:t>)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r>
              <a:rPr lang="pt-BR" dirty="0"/>
              <a:t>Reinscrição em tópicos (</a:t>
            </a:r>
            <a:r>
              <a:rPr lang="pt-BR" dirty="0" err="1">
                <a:solidFill>
                  <a:srgbClr val="0070C0"/>
                </a:solidFill>
                <a:latin typeface="Consolas" panose="020B0609020204030204" pitchFamily="49" charset="0"/>
              </a:rPr>
              <a:t>subscribe</a:t>
            </a:r>
            <a:r>
              <a:rPr lang="pt-BR" dirty="0"/>
              <a:t>)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r>
              <a:rPr lang="pt-BR" dirty="0"/>
              <a:t>Loop principal (</a:t>
            </a:r>
            <a:r>
              <a:rPr lang="pt-BR" dirty="0" err="1">
                <a:solidFill>
                  <a:srgbClr val="0070C0"/>
                </a:solidFill>
                <a:latin typeface="Consolas" panose="020B0609020204030204" pitchFamily="49" charset="0"/>
              </a:rPr>
              <a:t>client.loop</a:t>
            </a:r>
            <a:r>
              <a:rPr lang="pt-BR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pt-BR" dirty="0"/>
              <a:t>)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r>
              <a:rPr lang="pt-BR" dirty="0"/>
              <a:t>Publicação periódica (</a:t>
            </a:r>
            <a:r>
              <a:rPr lang="pt-BR" dirty="0" err="1">
                <a:solidFill>
                  <a:srgbClr val="0070C0"/>
                </a:solidFill>
                <a:latin typeface="Consolas" panose="020B0609020204030204" pitchFamily="49" charset="0"/>
              </a:rPr>
              <a:t>publish</a:t>
            </a:r>
            <a:r>
              <a:rPr lang="pt-BR" dirty="0"/>
              <a:t>)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904359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CB24B-93C6-33F2-A3D1-93E942FF1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040EA61-AA52-8586-216C-109BC4368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/>
              <a:t>O que é a função </a:t>
            </a:r>
            <a:r>
              <a:rPr lang="pt-BR" sz="2000" dirty="0" err="1"/>
              <a:t>Callback</a:t>
            </a:r>
            <a:r>
              <a:rPr lang="pt-BR" sz="2000" dirty="0"/>
              <a:t>?</a:t>
            </a:r>
            <a:endParaRPr lang="pt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377569-0337-2905-6C9F-3A691FA45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61" y="1442633"/>
            <a:ext cx="11280078" cy="3688168"/>
          </a:xfrm>
        </p:spPr>
        <p:txBody>
          <a:bodyPr>
            <a:normAutofit/>
          </a:bodyPr>
          <a:lstStyle/>
          <a:p>
            <a:pPr lvl="1">
              <a:lnSpc>
                <a:spcPct val="160000"/>
              </a:lnSpc>
            </a:pPr>
            <a:r>
              <a:rPr lang="pt-BR" dirty="0"/>
              <a:t>Função que </a:t>
            </a:r>
            <a:r>
              <a:rPr lang="pt-BR" b="1" i="1" dirty="0"/>
              <a:t>escuta mensagens recebidas</a:t>
            </a:r>
            <a:r>
              <a:rPr lang="pt-BR" dirty="0"/>
              <a:t>.</a:t>
            </a:r>
          </a:p>
          <a:p>
            <a:pPr lvl="1">
              <a:lnSpc>
                <a:spcPct val="160000"/>
              </a:lnSpc>
            </a:pPr>
            <a:r>
              <a:rPr lang="pt-BR" dirty="0"/>
              <a:t>Executada </a:t>
            </a:r>
            <a:r>
              <a:rPr lang="pt-BR" b="1" i="1" dirty="0"/>
              <a:t>automaticamente</a:t>
            </a:r>
            <a:r>
              <a:rPr lang="pt-BR" dirty="0"/>
              <a:t> quando chega algo em um tópico inscrito.</a:t>
            </a:r>
          </a:p>
          <a:p>
            <a:pPr lvl="1">
              <a:lnSpc>
                <a:spcPct val="160000"/>
              </a:lnSpc>
            </a:pPr>
            <a:r>
              <a:rPr lang="pt-BR" dirty="0"/>
              <a:t>Parâmetros:</a:t>
            </a:r>
          </a:p>
          <a:p>
            <a:pPr lvl="2">
              <a:lnSpc>
                <a:spcPct val="160000"/>
              </a:lnSpc>
            </a:pPr>
            <a:r>
              <a:rPr lang="pt-BR" b="1" i="1" dirty="0" err="1"/>
              <a:t>topic</a:t>
            </a:r>
            <a:r>
              <a:rPr lang="pt-BR" dirty="0"/>
              <a:t>: nome do tópico recebido.</a:t>
            </a:r>
          </a:p>
          <a:p>
            <a:pPr lvl="2">
              <a:lnSpc>
                <a:spcPct val="160000"/>
              </a:lnSpc>
            </a:pPr>
            <a:r>
              <a:rPr lang="pt-BR" b="1" i="1" dirty="0" err="1"/>
              <a:t>payload</a:t>
            </a:r>
            <a:r>
              <a:rPr lang="pt-BR" dirty="0"/>
              <a:t>: mensagem recebida (em bytes).</a:t>
            </a:r>
          </a:p>
          <a:p>
            <a:pPr lvl="2">
              <a:lnSpc>
                <a:spcPct val="160000"/>
              </a:lnSpc>
            </a:pPr>
            <a:r>
              <a:rPr lang="pt-BR" b="1" i="1" dirty="0" err="1"/>
              <a:t>length</a:t>
            </a:r>
            <a:r>
              <a:rPr lang="pt-BR" dirty="0"/>
              <a:t>: tamanho da mensagem.</a:t>
            </a:r>
          </a:p>
          <a:p>
            <a:pPr marL="457200" lvl="1" indent="0">
              <a:lnSpc>
                <a:spcPct val="160000"/>
              </a:lnSpc>
              <a:buNone/>
            </a:pPr>
            <a:endParaRPr lang="pt-BR" dirty="0"/>
          </a:p>
          <a:p>
            <a:pPr marL="457200" lvl="1" indent="0">
              <a:lnSpc>
                <a:spcPct val="160000"/>
              </a:lnSpc>
              <a:buNone/>
            </a:pPr>
            <a:endParaRPr lang="pt-BR" dirty="0"/>
          </a:p>
          <a:p>
            <a:pPr marL="457200" lvl="1" indent="0">
              <a:lnSpc>
                <a:spcPct val="160000"/>
              </a:lnSpc>
              <a:buNone/>
            </a:pPr>
            <a:endParaRPr lang="pt-BR" dirty="0"/>
          </a:p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068305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1DD2A-6666-0D90-81B9-465A99C19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4BF0E51-7A3D-3FD9-A0CB-7BE1DEB2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/>
              <a:t>Exemplo de função </a:t>
            </a:r>
            <a:r>
              <a:rPr lang="pt-BR" sz="2000" dirty="0" err="1"/>
              <a:t>Callback</a:t>
            </a:r>
            <a:r>
              <a:rPr lang="pt-BR" sz="2000" dirty="0"/>
              <a:t>?</a:t>
            </a: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3ABECC-4C5C-FB50-608C-B3EEAEC0F6B6}"/>
              </a:ext>
            </a:extLst>
          </p:cNvPr>
          <p:cNvSpPr txBox="1"/>
          <p:nvPr/>
        </p:nvSpPr>
        <p:spPr>
          <a:xfrm>
            <a:off x="1544343" y="1394372"/>
            <a:ext cx="7523457" cy="4854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 err="1">
                <a:solidFill>
                  <a:srgbClr val="0070C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callback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(</a:t>
            </a:r>
            <a:r>
              <a:rPr lang="pt-BR" sz="1600" b="1" dirty="0">
                <a:solidFill>
                  <a:srgbClr val="0070C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char*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6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topic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,</a:t>
            </a:r>
            <a:r>
              <a:rPr lang="pt-BR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600" b="1" dirty="0">
                <a:solidFill>
                  <a:srgbClr val="0070C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byte*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6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payload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pt-BR" sz="1600" b="1" dirty="0" err="1">
                <a:solidFill>
                  <a:srgbClr val="0070C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unsigned</a:t>
            </a:r>
            <a:r>
              <a:rPr lang="pt-BR" sz="1600" b="1" dirty="0">
                <a:solidFill>
                  <a:srgbClr val="0070C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600" b="1" dirty="0" err="1">
                <a:solidFill>
                  <a:srgbClr val="0070C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6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length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rgbClr val="0070C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pt-BR" sz="1600" b="1" dirty="0" err="1">
                <a:solidFill>
                  <a:srgbClr val="0070C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String</a:t>
            </a:r>
            <a:r>
              <a:rPr lang="pt-BR" sz="1600" b="1" dirty="0">
                <a:solidFill>
                  <a:srgbClr val="0070C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mensagem;</a:t>
            </a:r>
          </a:p>
          <a:p>
            <a:pPr>
              <a:lnSpc>
                <a:spcPct val="150000"/>
              </a:lnSpc>
            </a:pPr>
            <a:endParaRPr lang="pt-BR" sz="1600" dirty="0">
              <a:latin typeface="Consolas" panose="020B0609020204030204" pitchFamily="49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for (</a:t>
            </a:r>
            <a:r>
              <a:rPr lang="pt-BR" sz="1600" b="1" dirty="0" err="1">
                <a:solidFill>
                  <a:srgbClr val="0070C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 i = </a:t>
            </a:r>
            <a:r>
              <a:rPr lang="pt-B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0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; i &lt; </a:t>
            </a:r>
            <a:r>
              <a:rPr lang="pt-B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length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; i++) {</a:t>
            </a:r>
          </a:p>
          <a:p>
            <a:pPr>
              <a:lnSpc>
                <a:spcPct val="150000"/>
              </a:lnSpc>
            </a:pP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	mensagem += (</a:t>
            </a:r>
            <a:r>
              <a:rPr lang="pt-BR" sz="1600" b="1" dirty="0">
                <a:solidFill>
                  <a:srgbClr val="0070C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char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)</a:t>
            </a:r>
            <a:r>
              <a:rPr lang="pt-B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payload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[i];</a:t>
            </a:r>
          </a:p>
          <a:p>
            <a:pPr>
              <a:lnSpc>
                <a:spcPct val="150000"/>
              </a:lnSpc>
            </a:pP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}</a:t>
            </a:r>
          </a:p>
          <a:p>
            <a:pPr>
              <a:lnSpc>
                <a:spcPct val="150000"/>
              </a:lnSpc>
            </a:pP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pt-BR" sz="16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if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 (mensagem == “</a:t>
            </a:r>
            <a:r>
              <a:rPr lang="pt-BR" sz="1600" dirty="0">
                <a:solidFill>
                  <a:srgbClr val="00B05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ON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“) {</a:t>
            </a:r>
          </a:p>
          <a:p>
            <a:pPr>
              <a:lnSpc>
                <a:spcPct val="150000"/>
              </a:lnSpc>
            </a:pPr>
            <a:r>
              <a:rPr lang="pt-B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	</a:t>
            </a:r>
            <a:r>
              <a:rPr lang="pt-B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digitalWrite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(</a:t>
            </a:r>
            <a:r>
              <a:rPr lang="pt-BR" sz="16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ledPin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pt-B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HIGH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}</a:t>
            </a:r>
          </a:p>
          <a:p>
            <a:pPr>
              <a:lnSpc>
                <a:spcPct val="150000"/>
              </a:lnSpc>
            </a:pP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pt-BR" sz="16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else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if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 (mensagem == “</a:t>
            </a:r>
            <a:r>
              <a:rPr lang="pt-BR" sz="1600" dirty="0">
                <a:solidFill>
                  <a:srgbClr val="00B050"/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OFF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“) {</a:t>
            </a:r>
          </a:p>
          <a:p>
            <a:pPr>
              <a:lnSpc>
                <a:spcPct val="150000"/>
              </a:lnSpc>
            </a:pPr>
            <a:r>
              <a:rPr lang="pt-B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	</a:t>
            </a:r>
            <a:r>
              <a:rPr lang="pt-B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digitalWrite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(</a:t>
            </a:r>
            <a:r>
              <a:rPr lang="pt-BR" sz="16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ledPin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pt-B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LOW</a:t>
            </a: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pt-BR" sz="160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}</a:t>
            </a:r>
            <a:endParaRPr lang="pt-BR" sz="1600" dirty="0">
              <a:latin typeface="Consolas" panose="020B0609020204030204" pitchFamily="49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4669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63F0C-B1DD-6F9C-3D80-3CAF0AB6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C3D10C4-94B9-9238-18FF-7479D0EB1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MQTT</a:t>
            </a:r>
            <a:br>
              <a:rPr lang="pt-BR" dirty="0"/>
            </a:br>
            <a:r>
              <a:rPr lang="pt-BR" sz="2000" dirty="0"/>
              <a:t>Fluxograma da função </a:t>
            </a:r>
            <a:r>
              <a:rPr lang="pt-BR" sz="2000" dirty="0" err="1"/>
              <a:t>Callback</a:t>
            </a:r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057A61C-9B40-D15F-CC66-B436D6541F99}"/>
              </a:ext>
            </a:extLst>
          </p:cNvPr>
          <p:cNvSpPr/>
          <p:nvPr/>
        </p:nvSpPr>
        <p:spPr>
          <a:xfrm>
            <a:off x="712894" y="2048087"/>
            <a:ext cx="1380067" cy="1032933"/>
          </a:xfrm>
          <a:prstGeom prst="roundRect">
            <a:avLst>
              <a:gd name="adj" fmla="val 929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Mensagem recebida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(Broker)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56BBE54-A055-7CAA-8C48-4AC75D40D3C2}"/>
              </a:ext>
            </a:extLst>
          </p:cNvPr>
          <p:cNvSpPr/>
          <p:nvPr/>
        </p:nvSpPr>
        <p:spPr>
          <a:xfrm>
            <a:off x="2490894" y="2048087"/>
            <a:ext cx="1380067" cy="1032933"/>
          </a:xfrm>
          <a:prstGeom prst="roundRect">
            <a:avLst>
              <a:gd name="adj" fmla="val 9290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ESP32 inscrito no tópico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6E8B3AE-6FAB-2AAC-4212-4D3762D95102}"/>
              </a:ext>
            </a:extLst>
          </p:cNvPr>
          <p:cNvSpPr/>
          <p:nvPr/>
        </p:nvSpPr>
        <p:spPr>
          <a:xfrm>
            <a:off x="4268894" y="2048086"/>
            <a:ext cx="1261533" cy="1032933"/>
          </a:xfrm>
          <a:prstGeom prst="roundRect">
            <a:avLst>
              <a:gd name="adj" fmla="val 9290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Função </a:t>
            </a:r>
            <a:r>
              <a:rPr lang="pt-BR" dirty="0" err="1">
                <a:solidFill>
                  <a:schemeClr val="tx1"/>
                </a:solidFill>
              </a:rPr>
              <a:t>callback</a:t>
            </a:r>
            <a:r>
              <a:rPr lang="pt-BR" dirty="0">
                <a:solidFill>
                  <a:schemeClr val="tx1"/>
                </a:solidFill>
              </a:rPr>
              <a:t>() é chamada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380EB86-64F0-1101-1AE5-0C1C4474725A}"/>
              </a:ext>
            </a:extLst>
          </p:cNvPr>
          <p:cNvSpPr/>
          <p:nvPr/>
        </p:nvSpPr>
        <p:spPr>
          <a:xfrm>
            <a:off x="5928360" y="2048085"/>
            <a:ext cx="1261533" cy="1032933"/>
          </a:xfrm>
          <a:prstGeom prst="roundRect">
            <a:avLst>
              <a:gd name="adj" fmla="val 929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Converte </a:t>
            </a:r>
            <a:r>
              <a:rPr lang="pt-BR" dirty="0" err="1">
                <a:solidFill>
                  <a:schemeClr val="tx1"/>
                </a:solidFill>
              </a:rPr>
              <a:t>payload</a:t>
            </a:r>
            <a:r>
              <a:rPr lang="pt-BR" dirty="0">
                <a:solidFill>
                  <a:schemeClr val="tx1"/>
                </a:solidFill>
              </a:rPr>
              <a:t> em </a:t>
            </a:r>
            <a:r>
              <a:rPr lang="pt-BR" dirty="0" err="1">
                <a:solidFill>
                  <a:schemeClr val="tx1"/>
                </a:solidFill>
              </a:rPr>
              <a:t>String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10626AA-8158-AF04-E8D8-DCD0EC19A390}"/>
              </a:ext>
            </a:extLst>
          </p:cNvPr>
          <p:cNvSpPr/>
          <p:nvPr/>
        </p:nvSpPr>
        <p:spPr>
          <a:xfrm>
            <a:off x="7706360" y="1463886"/>
            <a:ext cx="3420534" cy="778932"/>
          </a:xfrm>
          <a:prstGeom prst="roundRect">
            <a:avLst>
              <a:gd name="adj" fmla="val 9290"/>
            </a:avLst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Se mensagem == “ON” 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-&gt; Liga LED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D2C0E82-C977-8979-95DE-6257D26C4622}"/>
              </a:ext>
            </a:extLst>
          </p:cNvPr>
          <p:cNvSpPr/>
          <p:nvPr/>
        </p:nvSpPr>
        <p:spPr>
          <a:xfrm>
            <a:off x="7706360" y="2899919"/>
            <a:ext cx="3420534" cy="778932"/>
          </a:xfrm>
          <a:prstGeom prst="roundRect">
            <a:avLst>
              <a:gd name="adj" fmla="val 9290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Se mensagem == “OFF” 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-&gt; Desliga LED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7CEF938F-EAE1-D69E-F61D-5037E6183D55}"/>
              </a:ext>
            </a:extLst>
          </p:cNvPr>
          <p:cNvCxnSpPr>
            <a:cxnSpLocks/>
          </p:cNvCxnSpPr>
          <p:nvPr/>
        </p:nvCxnSpPr>
        <p:spPr>
          <a:xfrm>
            <a:off x="2092961" y="2577253"/>
            <a:ext cx="3979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ADF7E610-2230-460A-23C3-05272CA62A0B}"/>
              </a:ext>
            </a:extLst>
          </p:cNvPr>
          <p:cNvCxnSpPr>
            <a:cxnSpLocks/>
          </p:cNvCxnSpPr>
          <p:nvPr/>
        </p:nvCxnSpPr>
        <p:spPr>
          <a:xfrm>
            <a:off x="3870961" y="2575136"/>
            <a:ext cx="3979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77C2F7B-6305-2570-1738-833ADD734EFE}"/>
              </a:ext>
            </a:extLst>
          </p:cNvPr>
          <p:cNvCxnSpPr>
            <a:cxnSpLocks/>
          </p:cNvCxnSpPr>
          <p:nvPr/>
        </p:nvCxnSpPr>
        <p:spPr>
          <a:xfrm>
            <a:off x="5530427" y="2575136"/>
            <a:ext cx="3979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EA9C23B7-AB1A-7EBF-093B-1D5088150BF7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7189893" y="1853352"/>
            <a:ext cx="516467" cy="335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4C1EEAB0-5944-3EE1-BC29-93D0507A382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7189893" y="2901612"/>
            <a:ext cx="516467" cy="3877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20EAD4D-D664-9413-FE6C-09DFFE46CAC0}"/>
              </a:ext>
            </a:extLst>
          </p:cNvPr>
          <p:cNvSpPr txBox="1"/>
          <p:nvPr/>
        </p:nvSpPr>
        <p:spPr>
          <a:xfrm>
            <a:off x="971972" y="4280747"/>
            <a:ext cx="8210127" cy="1572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ESP32 #1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(Publisher) publica → {"temperatura":25} no tópico casa/sala/temp.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800" b="1" kern="100" dirty="0">
                <a:solidFill>
                  <a:schemeClr val="accent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Node-RED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recebe e mostra em gráfico.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800" b="1" kern="100" dirty="0">
                <a:solidFill>
                  <a:schemeClr val="accent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Node-RED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publica → "ON" no tópico casa/sala/luz.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ESP32 #2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Subscriber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recebe no </a:t>
            </a:r>
            <a:r>
              <a:rPr lang="pt-BR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callback</a:t>
            </a: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acende LED.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2174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7101</TotalTime>
  <Words>1597</Words>
  <Application>Microsoft Office PowerPoint</Application>
  <PresentationFormat>Widescreen</PresentationFormat>
  <Paragraphs>166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Open Sans Light</vt:lpstr>
      <vt:lpstr>Symbol</vt:lpstr>
      <vt:lpstr>Tema do Office</vt:lpstr>
      <vt:lpstr>Apresentação do PowerPoint</vt:lpstr>
      <vt:lpstr>Técnico em Desenvolvimento de Sistemas</vt:lpstr>
      <vt:lpstr>Técnico em Desenvolvimento de Sistemas</vt:lpstr>
      <vt:lpstr>         Introdução ao ESP32  Módulo 3 Protocolos de Comunicação MQTT  </vt:lpstr>
      <vt:lpstr>Apresentação do PowerPoint</vt:lpstr>
      <vt:lpstr>ESP32 – Comunicação de dados – MQTT Introdução</vt:lpstr>
      <vt:lpstr>ESP32 – Comunicação de dados – MQTT Como surgiu</vt:lpstr>
      <vt:lpstr>ESP32 – Comunicação de dados – MQTT Arquitetura MQTT</vt:lpstr>
      <vt:lpstr>ESP32 – Comunicação de dados – MQTT Publish-subscribe</vt:lpstr>
      <vt:lpstr>ESP32 – Comunicação de dados – MQTT Publish-subscribe</vt:lpstr>
      <vt:lpstr>ESP32 – Comunicação de dados – MQTT Publish-subscribe</vt:lpstr>
      <vt:lpstr>ESP32 – Comunicação de dados – MQTT Como funciona</vt:lpstr>
      <vt:lpstr>ESP32 – Comunicação de dados – MQTT Transmissão de dados</vt:lpstr>
      <vt:lpstr>ESP32 – Comunicação de dados – MQTT Cabeçalho (Header)</vt:lpstr>
      <vt:lpstr>ESP32 – Comunicação de dados – MQTT Tipos de Mensagens</vt:lpstr>
      <vt:lpstr>Apresentação do PowerPoint</vt:lpstr>
      <vt:lpstr>Apresentação do PowerPoint</vt:lpstr>
      <vt:lpstr>ESP32 – Comunicação de dados – MQTT Estrutura do Código no ESP32</vt:lpstr>
      <vt:lpstr>ESP32 – Comunicação de dados – MQTT O que é a função Callback?</vt:lpstr>
      <vt:lpstr>ESP32 – Comunicação de dados – MQTT Exemplo de função Callback?</vt:lpstr>
      <vt:lpstr>ESP32 – Comunicação de dados – MQTT Fluxograma da função Callback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ESP32</dc:title>
  <dc:creator>Gerson Trindade</dc:creator>
  <cp:lastModifiedBy>Gerson Trindade</cp:lastModifiedBy>
  <cp:revision>52</cp:revision>
  <dcterms:created xsi:type="dcterms:W3CDTF">2024-03-06T19:24:45Z</dcterms:created>
  <dcterms:modified xsi:type="dcterms:W3CDTF">2025-10-01T13:03:52Z</dcterms:modified>
</cp:coreProperties>
</file>