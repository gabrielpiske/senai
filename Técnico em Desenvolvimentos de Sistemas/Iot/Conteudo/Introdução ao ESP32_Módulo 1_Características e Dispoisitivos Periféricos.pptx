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80" r:id="rId3"/>
    <p:sldId id="430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9" r:id="rId17"/>
    <p:sldId id="270" r:id="rId18"/>
    <p:sldId id="271" r:id="rId19"/>
    <p:sldId id="273" r:id="rId20"/>
    <p:sldId id="272" r:id="rId21"/>
    <p:sldId id="274" r:id="rId22"/>
    <p:sldId id="275" r:id="rId23"/>
    <p:sldId id="277" r:id="rId24"/>
    <p:sldId id="315" r:id="rId25"/>
    <p:sldId id="316" r:id="rId26"/>
    <p:sldId id="317" r:id="rId27"/>
    <p:sldId id="318" r:id="rId28"/>
    <p:sldId id="276" r:id="rId29"/>
    <p:sldId id="319" r:id="rId30"/>
    <p:sldId id="320" r:id="rId31"/>
    <p:sldId id="323" r:id="rId32"/>
    <p:sldId id="278" r:id="rId33"/>
    <p:sldId id="335" r:id="rId34"/>
    <p:sldId id="324" r:id="rId35"/>
    <p:sldId id="314" r:id="rId36"/>
    <p:sldId id="322" r:id="rId37"/>
    <p:sldId id="321" r:id="rId3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577F12-8EE0-8E50-6ECB-D38E56DE7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3CD66B-EDC8-3ED5-A1CF-B2E400FD84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4FE579-A359-287A-A837-B13A2360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5D2A1A-D7B2-4AD7-8D7C-2C544DD57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37BF57-3315-A5F8-1EF8-8749563E6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4523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82C14-CD9A-DC61-A5AE-D1E0CA40D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822F9D-C50F-9596-F1CA-DB8B54B0E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BBB9C8-608B-26F4-A3AF-BB65E8C5B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833CA5-494F-CD2E-E2B6-81505B492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225F60-DE34-6DE7-7933-68E069A1B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5785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69437C-127F-F641-27E8-5D55BBF18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4108DD9-6797-0C6D-43C0-75A740953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61D9AA-2158-ACF0-58CC-53312898E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27F800-7CE1-F471-4B19-513599888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DDFCC5-95CA-550A-1D92-0473EC0B3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282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34F8A-C340-D25A-3307-AC0368937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29CA43-91C9-5FFF-AF5E-D2D22B3387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56EE5E7-7BAF-2D22-98C0-0138689B4F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2A7F4DA-4FCE-F500-8E3F-23E6D11DD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4324529-3F06-24C4-2079-3151D3423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A4DB876-1C4E-2E00-4545-1D7B84D9A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7494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1E15C-B7CD-4112-3E10-11E0AD93A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963B4F-F9B7-0B27-C4A4-482FD1E45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DF24E23-E25E-FB19-A025-55E4C5ADC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ABCCDF7-D0B2-2CEE-925D-375002946A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6B96BFB-0597-2899-0A5B-601FC04793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E570746-AA74-6E87-5C77-3CFEBBD4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789DD85-1609-6018-E4DE-F96792C96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CAA0A08-5A31-13C0-DEB1-92742DC98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575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BBD8C-CB28-6CED-A850-4F28C2DCA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E66B48-CDA4-5812-843E-D58A5B38F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95CD797-ABFE-7C45-3E1B-CE79B0B90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FC3D140-F6A3-3C9D-0A61-036BC378D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7822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61463AE-71D0-FBCE-E22E-BFC81E1F4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B9416B0-09A0-C4C3-9B59-ABFF6C6CF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4AE6C0-B075-BF69-768C-380DC5733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6696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5D2DB4-DFDD-D2C7-1B39-DFA9F05B9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3A33A0-F3CB-BCF4-AE5C-79B340DC9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13052FA-6508-FD7F-2B3C-549733B16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25367E-EAEA-005B-953F-2DE90841F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A0F1F40-6DED-1D3F-93C8-E7DA5DC26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02AB35-1110-7E25-5B15-0BEF75D8B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6301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8E4397-122B-6FA3-E200-70E0FBD1D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48D91E8-2EE6-4961-D979-5081A134E3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018ECCB-3E03-7281-F88B-C514532B3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96043D-DB25-6668-04C2-1B559B830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EAEDF7-3D4B-6FD9-76D4-47ACB3435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1AF269A-CCDB-77A1-DCAF-E90B7C4C2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149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818F72-92EC-9E4B-EB63-4F5889515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4C1D420-27A1-4694-9E7D-59889B3BD8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F7909A-0877-D744-8345-1990B66D0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F2BFE1-194E-BD80-742F-90624BFF5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AFB879-1851-C773-6C0E-83B23D16F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4937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172EE07-858A-8227-1D24-3973532247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5227C95-1CB3-172B-9AF5-88FD91BA4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063B77-57DB-05D7-D74F-02EBA3898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C777C8-A372-3932-DB99-E111D87D0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395311-C9DA-BE06-10E2-B72F25CBB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8577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[CT] Capa seção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DE81F09-77C8-8AF0-5309-80196C62291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474C6420-A105-4A9E-900E-0BE918E53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227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CT] Slide de título">
  <p:cSld name="[CT] Slide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474C6420-A105-4A9E-900E-0BE918E53A22}" type="slidenum">
              <a:rPr lang="pt-BR" smtClean="0"/>
              <a:t>‹nº›</a:t>
            </a:fld>
            <a:endParaRPr lang="pt-BR"/>
          </a:p>
        </p:txBody>
      </p:sp>
      <p:sp>
        <p:nvSpPr>
          <p:cNvPr id="2" name="Google Shape;12;p3">
            <a:extLst>
              <a:ext uri="{FF2B5EF4-FFF2-40B4-BE49-F238E27FC236}">
                <a16:creationId xmlns:a16="http://schemas.microsoft.com/office/drawing/2014/main" id="{CEB2130B-4070-CED1-DDE7-819F542A075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92833" y="960000"/>
            <a:ext cx="4326400" cy="20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 b="1">
                <a:solidFill>
                  <a:srgbClr val="FFFFFF"/>
                </a:solidFill>
                <a:latin typeface="Open Sans Light" panose="00000400000000000000" pitchFamily="2" charset="0"/>
                <a:ea typeface="Open Sans Light" panose="00000400000000000000" pitchFamily="2" charset="0"/>
                <a:cs typeface="Open Sans Light" panose="00000400000000000000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9pPr>
          </a:lstStyle>
          <a:p>
            <a:r>
              <a:rPr lang="pt-BR" dirty="0"/>
              <a:t>Clique para editar o título Mestre</a:t>
            </a:r>
            <a:endParaRPr dirty="0"/>
          </a:p>
        </p:txBody>
      </p:sp>
      <p:sp>
        <p:nvSpPr>
          <p:cNvPr id="3" name="Google Shape;13;p3">
            <a:extLst>
              <a:ext uri="{FF2B5EF4-FFF2-40B4-BE49-F238E27FC236}">
                <a16:creationId xmlns:a16="http://schemas.microsoft.com/office/drawing/2014/main" id="{871B8210-007B-E15F-BD9F-610FFA7BAFD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92833" y="3418333"/>
            <a:ext cx="3808400" cy="29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 b="1">
                <a:solidFill>
                  <a:srgbClr val="FFFFFF"/>
                </a:solidFill>
                <a:latin typeface="Open Sans Light" panose="00000400000000000000" pitchFamily="2" charset="0"/>
                <a:ea typeface="Open Sans Light" panose="00000400000000000000" pitchFamily="2" charset="0"/>
                <a:cs typeface="Open Sans Light" panose="00000400000000000000" pitchFamily="2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99838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05DD460-A6E3-4CD0-BC45-69DA33060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B261D1-5E1A-A1CA-50B6-8005BC048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ADB802-9D30-E343-B18C-CC86F0C40A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B69B10-818D-5F86-A4A1-572292535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E91260-D1CE-234F-8EF1-6C69789019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1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90.png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414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9DE623-C3E1-33FE-7D53-E07BA4540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9224" y="1157224"/>
            <a:ext cx="4489312" cy="2016000"/>
          </a:xfrm>
        </p:spPr>
        <p:txBody>
          <a:bodyPr/>
          <a:lstStyle/>
          <a:p>
            <a:r>
              <a:rPr lang="pt-BR" dirty="0"/>
              <a:t>Técnico em Desenvolvimento de Sistemas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916945-07C5-AE4B-36F4-5F34ADDB4E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9224" y="3418333"/>
            <a:ext cx="5122921" cy="2933200"/>
          </a:xfrm>
        </p:spPr>
        <p:txBody>
          <a:bodyPr/>
          <a:lstStyle/>
          <a:p>
            <a:r>
              <a:rPr lang="pt-BR" dirty="0"/>
              <a:t>Unidade curricular:</a:t>
            </a:r>
          </a:p>
          <a:p>
            <a:r>
              <a:rPr lang="pt-BR" dirty="0"/>
              <a:t>Internet das Coisas</a:t>
            </a:r>
          </a:p>
        </p:txBody>
      </p:sp>
      <p:pic>
        <p:nvPicPr>
          <p:cNvPr id="1026" name="Picture 2" descr="Graduação - Portal do IFSC">
            <a:extLst>
              <a:ext uri="{FF2B5EF4-FFF2-40B4-BE49-F238E27FC236}">
                <a16:creationId xmlns:a16="http://schemas.microsoft.com/office/drawing/2014/main" id="{90F59656-152D-A34A-5580-73AD5801B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3111" y="2608727"/>
            <a:ext cx="3931198" cy="201599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3810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FCCE3-E0A2-2679-9830-89AA0063C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85E163-F368-8F03-864D-9727B01073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9645" y="379182"/>
            <a:ext cx="4489312" cy="2016000"/>
          </a:xfrm>
        </p:spPr>
        <p:txBody>
          <a:bodyPr/>
          <a:lstStyle/>
          <a:p>
            <a:r>
              <a:rPr lang="pt-BR" dirty="0"/>
              <a:t>Técnico em Desenvolvimento de Sistemas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69B7A0-ADDB-CDDE-C5A8-B2D54A1810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645" y="2503932"/>
            <a:ext cx="5122921" cy="3974885"/>
          </a:xfrm>
        </p:spPr>
        <p:txBody>
          <a:bodyPr/>
          <a:lstStyle/>
          <a:p>
            <a:r>
              <a:rPr lang="pt-BR" dirty="0"/>
              <a:t>Unidade curricular:</a:t>
            </a:r>
          </a:p>
          <a:p>
            <a:r>
              <a:rPr lang="pt-BR" dirty="0"/>
              <a:t>Internet das Coisas</a:t>
            </a:r>
          </a:p>
          <a:p>
            <a:endParaRPr lang="pt-BR" dirty="0"/>
          </a:p>
          <a:p>
            <a:r>
              <a:rPr lang="pt-BR" dirty="0"/>
              <a:t>Aula 09: 4 horas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Microcontrolador Esp32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KIT-IOT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endParaRPr lang="pt-BR" dirty="0"/>
          </a:p>
        </p:txBody>
      </p:sp>
      <p:pic>
        <p:nvPicPr>
          <p:cNvPr id="1026" name="Picture 2" descr="Graduação - Portal do IFSC">
            <a:extLst>
              <a:ext uri="{FF2B5EF4-FFF2-40B4-BE49-F238E27FC236}">
                <a16:creationId xmlns:a16="http://schemas.microsoft.com/office/drawing/2014/main" id="{B73DB14A-CDD9-C378-78B0-4E0D22042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3111" y="2608727"/>
            <a:ext cx="3931198" cy="201599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4866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32 Dev Kit C V4 Nodemcu WiFi Development Board">
            <a:extLst>
              <a:ext uri="{FF2B5EF4-FFF2-40B4-BE49-F238E27FC236}">
                <a16:creationId xmlns:a16="http://schemas.microsoft.com/office/drawing/2014/main" id="{D98F1D0E-13BE-E7B5-BF94-FEE2C7072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8133" y="774171"/>
            <a:ext cx="5655733" cy="5655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150636E9-2F09-EBDA-B2ED-77D88E37A606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516DEB-0410-4165-008C-0E85E4D8BC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0"/>
            <a:ext cx="12192000" cy="6858000"/>
          </a:xfrm>
        </p:spPr>
        <p:txBody>
          <a:bodyPr>
            <a:normAutofit/>
          </a:bodyPr>
          <a:lstStyle/>
          <a:p>
            <a:br>
              <a:rPr lang="pt-BR" sz="8800" b="1" dirty="0"/>
            </a:br>
            <a:br>
              <a:rPr lang="pt-BR" sz="8800" b="1" dirty="0"/>
            </a:br>
            <a:r>
              <a:rPr lang="pt-BR" sz="8000" b="1" dirty="0">
                <a:solidFill>
                  <a:schemeClr val="bg1"/>
                </a:solidFill>
              </a:rPr>
              <a:t>Introdução ao ESP32</a:t>
            </a:r>
            <a:br>
              <a:rPr lang="pt-BR" sz="7300" dirty="0"/>
            </a:br>
            <a:br>
              <a:rPr lang="pt-BR" dirty="0"/>
            </a:b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9407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DAD20B-08D8-E0C1-CBC8-197FA38F9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pt-BR" dirty="0"/>
              <a:t>Características principais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84F358-649B-AE43-5D39-838DC3451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534" y="1617131"/>
            <a:ext cx="5257800" cy="4986867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pt-BR" dirty="0"/>
              <a:t>Chip com Wi-Fi embutido : padrão 802.11 B/G/N, operando na faixa de 2.4 a 2.5GHz</a:t>
            </a:r>
          </a:p>
          <a:p>
            <a:pPr>
              <a:lnSpc>
                <a:spcPct val="170000"/>
              </a:lnSpc>
            </a:pPr>
            <a:r>
              <a:rPr lang="pt-BR" dirty="0"/>
              <a:t>Modos de operação : </a:t>
            </a:r>
            <a:r>
              <a:rPr lang="pt-BR" dirty="0" err="1"/>
              <a:t>Client</a:t>
            </a:r>
            <a:r>
              <a:rPr lang="pt-BR" dirty="0"/>
              <a:t>, Access Point, </a:t>
            </a:r>
            <a:r>
              <a:rPr lang="pt-BR" dirty="0" err="1"/>
              <a:t>Station+Access</a:t>
            </a:r>
            <a:r>
              <a:rPr lang="pt-BR" dirty="0"/>
              <a:t> Point</a:t>
            </a:r>
          </a:p>
          <a:p>
            <a:pPr>
              <a:lnSpc>
                <a:spcPct val="170000"/>
              </a:lnSpc>
            </a:pPr>
            <a:r>
              <a:rPr lang="pt-BR" dirty="0"/>
              <a:t>Microprocessador dual core </a:t>
            </a:r>
            <a:r>
              <a:rPr lang="pt-BR" dirty="0" err="1"/>
              <a:t>Tensilica</a:t>
            </a:r>
            <a:r>
              <a:rPr lang="pt-BR" dirty="0"/>
              <a:t> </a:t>
            </a:r>
            <a:r>
              <a:rPr lang="pt-BR" dirty="0" err="1"/>
              <a:t>Xtensa</a:t>
            </a:r>
            <a:r>
              <a:rPr lang="pt-BR" dirty="0"/>
              <a:t> 32-bit LX6</a:t>
            </a:r>
          </a:p>
          <a:p>
            <a:pPr>
              <a:lnSpc>
                <a:spcPct val="170000"/>
              </a:lnSpc>
            </a:pPr>
            <a:r>
              <a:rPr lang="pt-BR" dirty="0" err="1"/>
              <a:t>Clock</a:t>
            </a:r>
            <a:r>
              <a:rPr lang="pt-BR" dirty="0"/>
              <a:t> ajustável de 80MHz até 240MHz</a:t>
            </a:r>
          </a:p>
          <a:p>
            <a:pPr>
              <a:lnSpc>
                <a:spcPct val="170000"/>
              </a:lnSpc>
            </a:pPr>
            <a:r>
              <a:rPr lang="pt-BR" dirty="0"/>
              <a:t>Tensão de operação : 3.3 VDC</a:t>
            </a:r>
          </a:p>
          <a:p>
            <a:pPr>
              <a:lnSpc>
                <a:spcPct val="170000"/>
              </a:lnSpc>
            </a:pPr>
            <a:r>
              <a:rPr lang="pt-BR" dirty="0"/>
              <a:t>Possui SRAM de 512KB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F295773B-8B92-A159-41EC-030502056878}"/>
              </a:ext>
            </a:extLst>
          </p:cNvPr>
          <p:cNvSpPr txBox="1">
            <a:spLocks/>
          </p:cNvSpPr>
          <p:nvPr/>
        </p:nvSpPr>
        <p:spPr>
          <a:xfrm>
            <a:off x="6350004" y="1617131"/>
            <a:ext cx="5257800" cy="498686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</a:pPr>
            <a:r>
              <a:rPr lang="pt-BR" dirty="0"/>
              <a:t>Possui ROM de 448KB</a:t>
            </a:r>
          </a:p>
          <a:p>
            <a:pPr>
              <a:lnSpc>
                <a:spcPct val="170000"/>
              </a:lnSpc>
            </a:pPr>
            <a:r>
              <a:rPr lang="pt-BR" dirty="0"/>
              <a:t>Possui memória flash externa de 32Mb (4 megabytes)</a:t>
            </a:r>
          </a:p>
          <a:p>
            <a:pPr>
              <a:lnSpc>
                <a:spcPct val="170000"/>
              </a:lnSpc>
            </a:pPr>
            <a:r>
              <a:rPr lang="pt-BR" dirty="0"/>
              <a:t>Corrente máxima por pino é de 12mA (recomenda-se usar 6mA)</a:t>
            </a:r>
          </a:p>
          <a:p>
            <a:pPr>
              <a:lnSpc>
                <a:spcPct val="170000"/>
              </a:lnSpc>
            </a:pPr>
            <a:r>
              <a:rPr lang="pt-BR" dirty="0"/>
              <a:t>Possui 36 </a:t>
            </a:r>
            <a:r>
              <a:rPr lang="pt-BR" dirty="0" err="1"/>
              <a:t>GPIOs</a:t>
            </a:r>
            <a:endParaRPr lang="pt-BR" dirty="0"/>
          </a:p>
          <a:p>
            <a:pPr>
              <a:lnSpc>
                <a:spcPct val="170000"/>
              </a:lnSpc>
            </a:pPr>
            <a:r>
              <a:rPr lang="pt-BR" dirty="0" err="1"/>
              <a:t>GPIOs</a:t>
            </a:r>
            <a:r>
              <a:rPr lang="pt-BR" dirty="0"/>
              <a:t> com função PWM / I2C e SPI</a:t>
            </a:r>
          </a:p>
          <a:p>
            <a:pPr>
              <a:lnSpc>
                <a:spcPct val="170000"/>
              </a:lnSpc>
            </a:pPr>
            <a:r>
              <a:rPr lang="pt-BR" dirty="0"/>
              <a:t>Possui Bluetooth v4.2 BR / EDR e BLE (Bluetooth </a:t>
            </a:r>
            <a:r>
              <a:rPr lang="pt-BR" dirty="0" err="1"/>
              <a:t>Low</a:t>
            </a:r>
            <a:r>
              <a:rPr lang="pt-BR" dirty="0"/>
              <a:t> Energy</a:t>
            </a:r>
          </a:p>
        </p:txBody>
      </p:sp>
    </p:spTree>
    <p:extLst>
      <p:ext uri="{BB962C8B-B14F-4D97-AF65-F5344CB8AC3E}">
        <p14:creationId xmlns:p14="http://schemas.microsoft.com/office/powerpoint/2010/main" val="402929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B971E1-7588-1982-09A6-958366697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210800" cy="1325563"/>
          </a:xfrm>
        </p:spPr>
        <p:txBody>
          <a:bodyPr/>
          <a:lstStyle/>
          <a:p>
            <a:r>
              <a:rPr lang="pt-BR" dirty="0"/>
              <a:t>Comparativo entre ESP32, ESP8266 e Arduino R3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B3D68F1-A657-E495-B3F4-5D4B4D49B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646" y="1325563"/>
            <a:ext cx="9044707" cy="525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753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BC8BDE-E98D-880F-2BDB-91EE5C109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pt-BR" dirty="0"/>
              <a:t>Tipos de ESP32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3BC72BA-5124-B3D3-4C51-76BBA1568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301" y="1343818"/>
            <a:ext cx="6709398" cy="52266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40383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1DE4EA-F163-9165-CA48-3DA4C9203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170"/>
            <a:ext cx="10515600" cy="1325563"/>
          </a:xfrm>
        </p:spPr>
        <p:txBody>
          <a:bodyPr/>
          <a:lstStyle/>
          <a:p>
            <a:r>
              <a:rPr lang="pt-BR" dirty="0"/>
              <a:t>WiFi NodeMCU-32S ESP-WROOM-32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BB8F46B-962A-4CF4-8801-984C55D33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988" y="1337733"/>
            <a:ext cx="9290156" cy="5350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44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32E2EB-13F4-9562-5E6A-6B81C126D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pt-BR" dirty="0"/>
              <a:t>Configurando IDE do Arduino (</a:t>
            </a:r>
            <a:r>
              <a:rPr lang="pt-BR" dirty="0" err="1"/>
              <a:t>windows</a:t>
            </a:r>
            <a:r>
              <a:rPr lang="pt-BR" dirty="0"/>
              <a:t>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F9AE54B-C665-6467-D39C-98044BC55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1093346"/>
            <a:ext cx="9000000" cy="5531249"/>
          </a:xfrm>
          <a:prstGeom prst="rect">
            <a:avLst/>
          </a:prstGeom>
        </p:spPr>
      </p:pic>
      <p:sp>
        <p:nvSpPr>
          <p:cNvPr id="8" name="Elipse 7">
            <a:extLst>
              <a:ext uri="{FF2B5EF4-FFF2-40B4-BE49-F238E27FC236}">
                <a16:creationId xmlns:a16="http://schemas.microsoft.com/office/drawing/2014/main" id="{8821BEC4-CA64-16B7-0DBA-110F9F4A8EC4}"/>
              </a:ext>
            </a:extLst>
          </p:cNvPr>
          <p:cNvSpPr/>
          <p:nvPr/>
        </p:nvSpPr>
        <p:spPr>
          <a:xfrm>
            <a:off x="1507067" y="3158066"/>
            <a:ext cx="2286000" cy="41486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8400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8AD302D-E8D1-1512-79BC-410132F1B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1163372"/>
            <a:ext cx="9000000" cy="5570313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5B061692-E621-2BF3-4376-4ADC61E3115B}"/>
              </a:ext>
            </a:extLst>
          </p:cNvPr>
          <p:cNvSpPr/>
          <p:nvPr/>
        </p:nvSpPr>
        <p:spPr>
          <a:xfrm>
            <a:off x="5173133" y="4885266"/>
            <a:ext cx="3344334" cy="41486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EAFE9A0-47A1-3249-3A64-9EA512999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pt-BR" dirty="0"/>
              <a:t>Configurando IDE do Arduino (</a:t>
            </a:r>
            <a:r>
              <a:rPr lang="pt-BR" dirty="0" err="1"/>
              <a:t>windows</a:t>
            </a:r>
            <a:r>
              <a:rPr lang="pt-B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08827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F3EBA929-C2C6-FE94-4337-E33191470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1163372"/>
            <a:ext cx="9000000" cy="5570313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DF15293A-D5A1-35F7-C104-4D1C76195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pt-BR" dirty="0"/>
              <a:t>Configurando IDE do Arduino (</a:t>
            </a:r>
            <a:r>
              <a:rPr lang="pt-BR" dirty="0" err="1"/>
              <a:t>windows</a:t>
            </a:r>
            <a:r>
              <a:rPr lang="pt-BR" dirty="0"/>
              <a:t>)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526D33BC-B8DC-9BE2-3F04-E2AD863B6D41}"/>
              </a:ext>
            </a:extLst>
          </p:cNvPr>
          <p:cNvSpPr/>
          <p:nvPr/>
        </p:nvSpPr>
        <p:spPr>
          <a:xfrm>
            <a:off x="8390466" y="4859866"/>
            <a:ext cx="719667" cy="48260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1796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0600751-C389-745F-5F7C-AF0A72369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1287687"/>
            <a:ext cx="9000000" cy="5570313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2DA56233-E44B-B9B5-DC27-AF9A89E52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pt-BR" dirty="0"/>
              <a:t>Configurando IDE do Arduino (</a:t>
            </a:r>
            <a:r>
              <a:rPr lang="pt-BR" dirty="0" err="1"/>
              <a:t>windows</a:t>
            </a:r>
            <a:r>
              <a:rPr lang="pt-B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091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711649B-21D5-DEB7-7EAB-00E9EB55A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1100137"/>
            <a:ext cx="9000000" cy="5570313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7B966F9E-0550-B2E6-C5F9-F96D3F906EA4}"/>
              </a:ext>
            </a:extLst>
          </p:cNvPr>
          <p:cNvSpPr/>
          <p:nvPr/>
        </p:nvSpPr>
        <p:spPr>
          <a:xfrm>
            <a:off x="1405466" y="2167466"/>
            <a:ext cx="719667" cy="48260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2059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A4EBD28-1C43-ECEC-DC4E-99A7FC867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1159404"/>
            <a:ext cx="9000000" cy="557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656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1A2F064-D9C5-61C9-D5BD-EC29A4D10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1159404"/>
            <a:ext cx="9000000" cy="5570313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C4E30D87-F5D5-F827-6EEF-56EC411BCE3F}"/>
              </a:ext>
            </a:extLst>
          </p:cNvPr>
          <p:cNvSpPr/>
          <p:nvPr/>
        </p:nvSpPr>
        <p:spPr>
          <a:xfrm>
            <a:off x="1439333" y="4030131"/>
            <a:ext cx="2235200" cy="18711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3249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7E976-9F1F-1C66-BC63-27676C2C0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EE062265-067E-5F77-CF4D-8ABF0A81A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pt-BR" dirty="0"/>
              <a:t>Simulador para ESP32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95151A0-F0F3-E253-1826-A5E0ACA81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1216581"/>
            <a:ext cx="9000000" cy="483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8538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67C55-C408-11FC-D0CD-29AB696FB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74885E3D-B284-5D0C-E915-1CAEDB3CE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pt-BR" dirty="0"/>
              <a:t>Simulador para ESP32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F82CD7B-3746-D277-A7D8-38FE1A9D2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1581150"/>
            <a:ext cx="9000000" cy="483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0757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A1187-AE6E-9B79-2315-80AA6C17F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B365F6B0-C22B-1686-2435-5826D644F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pt-BR" dirty="0"/>
              <a:t>Simulador online para ESP32 – Wokwi.com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FFBAED7-40B6-E99F-88F8-B7F1FF4E6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425" y="1325563"/>
            <a:ext cx="9000000" cy="483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404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A1187-AE6E-9B79-2315-80AA6C17F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B365F6B0-C22B-1686-2435-5826D644F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dirty="0"/>
              <a:t>ESP32 – Apresentando dados na porta Serial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7A7264E-51F3-C98E-BC75-032B6CFFA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00" y="1181893"/>
            <a:ext cx="10800000" cy="5406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1348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A1187-AE6E-9B79-2315-80AA6C17F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B365F6B0-C22B-1686-2435-5826D644F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dirty="0"/>
              <a:t>ESP32 – Lendo dados na entrada digital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AF8E57E-8B3D-6D89-F5FE-66226861C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00" y="972576"/>
            <a:ext cx="10800000" cy="571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4735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A1187-AE6E-9B79-2315-80AA6C17F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B365F6B0-C22B-1686-2435-5826D644F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dirty="0"/>
              <a:t>ESP32 – Lendo dados na entrada analógica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A1341FD-B3BA-E7B2-7A2B-202A4DE6D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00" y="1197595"/>
            <a:ext cx="10800000" cy="528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3108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A1187-AE6E-9B79-2315-80AA6C17F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B365F6B0-C22B-1686-2435-5826D644F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dirty="0"/>
              <a:t>ESP32 – Apresentando dados na saída digital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27752D8-19FF-65C8-DF9A-CA6496919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33" y="1325563"/>
            <a:ext cx="10800000" cy="506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3263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A1187-AE6E-9B79-2315-80AA6C17F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B365F6B0-C22B-1686-2435-5826D644F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dirty="0"/>
              <a:t>ESP32 – Exercício - desafio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9024850-ECE7-1A11-A4C3-E5A0813F3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071" y="2315447"/>
            <a:ext cx="7395858" cy="417686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0472FD3-C5E3-E874-104E-0382D2559298}"/>
              </a:ext>
            </a:extLst>
          </p:cNvPr>
          <p:cNvSpPr txBox="1"/>
          <p:nvPr/>
        </p:nvSpPr>
        <p:spPr>
          <a:xfrm>
            <a:off x="397933" y="1227667"/>
            <a:ext cx="10642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Programe o ESP32 no circuito abaixo para acionar cada LED com um tempo específico de pressionamento do botão verde. (Botão verde pressionado por 5s, acionará o LED vermelho, se o botão verde for pressionado por 10s o LED Azul ficará acionado. Para apagar os LEDs programe o botão vermelho.</a:t>
            </a:r>
          </a:p>
        </p:txBody>
      </p:sp>
    </p:spTree>
    <p:extLst>
      <p:ext uri="{BB962C8B-B14F-4D97-AF65-F5344CB8AC3E}">
        <p14:creationId xmlns:p14="http://schemas.microsoft.com/office/powerpoint/2010/main" val="26380232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11849622" cy="1325563"/>
          </a:xfrm>
        </p:spPr>
        <p:txBody>
          <a:bodyPr/>
          <a:lstStyle/>
          <a:p>
            <a:r>
              <a:rPr lang="pt-BR" dirty="0"/>
              <a:t>Controles de Potência</a:t>
            </a:r>
            <a:br>
              <a:rPr lang="pt-BR" dirty="0"/>
            </a:br>
            <a:r>
              <a:rPr lang="pt-BR" sz="2000" b="1" i="1" dirty="0"/>
              <a:t>Controles Não Lineares – Técnica de Modulação Por Largura de Pulsos (PWM)</a:t>
            </a:r>
            <a:endParaRPr lang="pt-BR" b="1" i="1" dirty="0"/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198918" y="1313036"/>
            <a:ext cx="11650704" cy="52756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</a:pPr>
            <a:r>
              <a:rPr lang="pt-BR" sz="2000" dirty="0"/>
              <a:t>Existem basicamente dois tipos de controles para cargas de potência como motores, lâmpadas incandescentes, elementos de aquecimento, </a:t>
            </a:r>
            <a:r>
              <a:rPr lang="pt-BR" sz="2000" dirty="0" err="1"/>
              <a:t>solenóides</a:t>
            </a:r>
            <a:r>
              <a:rPr lang="pt-BR" sz="2000" dirty="0"/>
              <a:t>, etc.: os controles lineares e os controles pulsantes ou PWM. No entanto, uma das desvantagens dos controles lineares está no fato de não ser possível manter o controle sobre o torque e a velocidade em baixas rotações, no caso de motores. Os motores tendem a partir com “pequenos trancos" e também não é muito simples compensar as variações de velocidade que ocorrem quando o motor tem de fazer mais força. 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pt-BR" sz="2000" dirty="0"/>
          </a:p>
          <a:p>
            <a:pPr marL="0" indent="0" algn="just">
              <a:lnSpc>
                <a:spcPct val="120000"/>
              </a:lnSpc>
              <a:buNone/>
            </a:pPr>
            <a:r>
              <a:rPr lang="pt-BR" sz="2000" dirty="0"/>
              <a:t>Uma maneira de se obter um controle muito mais preciso sobre o torque e a velocidade de motores de corrente contínua, e até mesmo de outras cargas, é através de circuitos que empregam a tecnologia PWM ou Pulse </a:t>
            </a:r>
            <a:r>
              <a:rPr lang="pt-BR" sz="2000" dirty="0" err="1"/>
              <a:t>Width</a:t>
            </a:r>
            <a:r>
              <a:rPr lang="pt-BR" sz="2000" dirty="0"/>
              <a:t> </a:t>
            </a:r>
            <a:r>
              <a:rPr lang="pt-BR" sz="2000" dirty="0" err="1"/>
              <a:t>Modulation</a:t>
            </a:r>
            <a:r>
              <a:rPr lang="pt-BR" sz="2000" dirty="0"/>
              <a:t> (Modulação de Largura de Pulso). Com estes circuitos podemos manter o torque mesmo em baixas velocidades garantindo partidas suaves para os motores, mesmo carregados o que os torna ideais para aplicações em robótica, mecatrônica e mesmo em aplicações industriais. Vamos analisar o princípio de funcionamento dos controles PWM e estudar alguns circuitos práticos.</a:t>
            </a:r>
          </a:p>
        </p:txBody>
      </p:sp>
    </p:spTree>
    <p:extLst>
      <p:ext uri="{BB962C8B-B14F-4D97-AF65-F5344CB8AC3E}">
        <p14:creationId xmlns:p14="http://schemas.microsoft.com/office/powerpoint/2010/main" val="21237254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11849622" cy="1325563"/>
          </a:xfrm>
        </p:spPr>
        <p:txBody>
          <a:bodyPr/>
          <a:lstStyle/>
          <a:p>
            <a:r>
              <a:rPr lang="pt-BR" dirty="0"/>
              <a:t>Controles de Potência</a:t>
            </a:r>
            <a:br>
              <a:rPr lang="pt-BR" dirty="0"/>
            </a:br>
            <a:r>
              <a:rPr lang="pt-BR" sz="2000" b="1" i="1" dirty="0"/>
              <a:t>Controles Não Lineares – O Controle PWM</a:t>
            </a:r>
            <a:endParaRPr lang="pt-BR" b="1" i="1" dirty="0"/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198918" y="1313036"/>
            <a:ext cx="11650704" cy="52756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</a:pPr>
            <a:r>
              <a:rPr lang="pt-BR" sz="2000" i="1" dirty="0">
                <a:solidFill>
                  <a:srgbClr val="0070C0"/>
                </a:solidFill>
              </a:rPr>
              <a:t>Como podemos manter o controle sobre a corrente média de um motor de corrente contínua sem diminuir a tensão que lhe seja aplicada, já que é a diminuição da tensão que nos leva aos problemas de controle em baixas rotações?</a:t>
            </a:r>
            <a:r>
              <a:rPr lang="pt-BR" sz="2000" dirty="0">
                <a:solidFill>
                  <a:srgbClr val="0070C0"/>
                </a:solidFill>
              </a:rPr>
              <a:t> </a:t>
            </a:r>
            <a:r>
              <a:rPr lang="pt-BR" sz="2000" dirty="0"/>
              <a:t>Para responder a esta pergunta, existe uma solução técnica bastante engenhosa. Podemos variar a intensidade média da corrente no motor se o alimentarmos com pulsos e controlarmos a duração destes pulsos. Para que se entenda melhor vamos explicar detalhadamente o processo.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pt-BR" sz="2000" dirty="0"/>
          </a:p>
          <a:p>
            <a:pPr marL="0" indent="0" algn="just">
              <a:lnSpc>
                <a:spcPct val="120000"/>
              </a:lnSpc>
              <a:buNone/>
            </a:pPr>
            <a:r>
              <a:rPr lang="pt-BR" sz="2000" dirty="0"/>
              <a:t>Se em lugar de alimentarmos o motor com uma corrente contínua pura, e em seu lugar usarmos um dispositivo qualquer que ligue e desligue rapidamente o circuito, de modo a produzir pulsos retangulares com a duração e o espaçamento entre eles definidos por uma relação  T</a:t>
            </a:r>
            <a:r>
              <a:rPr lang="pt-BR" sz="2000" baseline="-25000" dirty="0"/>
              <a:t>ON</a:t>
            </a:r>
            <a:r>
              <a:rPr lang="pt-BR" sz="2000" dirty="0"/>
              <a:t>/T</a:t>
            </a:r>
            <a:r>
              <a:rPr lang="pt-BR" sz="2000" baseline="-25000" dirty="0"/>
              <a:t>TOTAL</a:t>
            </a:r>
            <a:r>
              <a:rPr lang="pt-BR" sz="2000" dirty="0"/>
              <a:t> (denominada </a:t>
            </a:r>
            <a:r>
              <a:rPr lang="pt-BR" sz="2000" dirty="0" err="1"/>
              <a:t>Duty</a:t>
            </a:r>
            <a:r>
              <a:rPr lang="pt-BR" sz="2000" dirty="0"/>
              <a:t> </a:t>
            </a:r>
            <a:r>
              <a:rPr lang="pt-BR" sz="2000" dirty="0" err="1"/>
              <a:t>Cicle</a:t>
            </a:r>
            <a:r>
              <a:rPr lang="pt-BR" sz="2000" dirty="0"/>
              <a:t> ou Ciclo de Trabalho em %) conforme as necessidades do projeto, teremos um controle sobre a potência final aplicada a carga. Com esse procedimento, a tensão de cada pulso se mantém igual a máxima da fonte, mas seu valor médio aplicado ao motor será determinado pelo </a:t>
            </a:r>
            <a:r>
              <a:rPr lang="pt-BR" sz="2000" dirty="0" err="1"/>
              <a:t>Duty</a:t>
            </a:r>
            <a:r>
              <a:rPr lang="pt-BR" sz="2000" dirty="0"/>
              <a:t> </a:t>
            </a:r>
            <a:r>
              <a:rPr lang="pt-BR" sz="2000" dirty="0" err="1"/>
              <a:t>Cicle</a:t>
            </a:r>
            <a:r>
              <a:rPr lang="pt-BR" sz="2000" dirty="0"/>
              <a:t>. Veja a figura a seguir.</a:t>
            </a:r>
          </a:p>
        </p:txBody>
      </p:sp>
    </p:spTree>
    <p:extLst>
      <p:ext uri="{BB962C8B-B14F-4D97-AF65-F5344CB8AC3E}">
        <p14:creationId xmlns:p14="http://schemas.microsoft.com/office/powerpoint/2010/main" val="11717609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11849622" cy="1325563"/>
          </a:xfrm>
        </p:spPr>
        <p:txBody>
          <a:bodyPr/>
          <a:lstStyle/>
          <a:p>
            <a:r>
              <a:rPr lang="pt-BR" dirty="0"/>
              <a:t>Controles de Potência</a:t>
            </a:r>
            <a:br>
              <a:rPr lang="pt-BR" dirty="0"/>
            </a:br>
            <a:r>
              <a:rPr lang="pt-BR" sz="2000" b="1" i="1" dirty="0"/>
              <a:t>Controles Não Lineares – O Controle PWM</a:t>
            </a:r>
            <a:endParaRPr lang="pt-BR" b="1" i="1" dirty="0"/>
          </a:p>
        </p:txBody>
      </p:sp>
      <p:grpSp>
        <p:nvGrpSpPr>
          <p:cNvPr id="12" name="Grupo 11"/>
          <p:cNvGrpSpPr/>
          <p:nvPr/>
        </p:nvGrpSpPr>
        <p:grpSpPr>
          <a:xfrm>
            <a:off x="322835" y="1318690"/>
            <a:ext cx="6194078" cy="2085975"/>
            <a:chOff x="322835" y="1509190"/>
            <a:chExt cx="6194078" cy="2085975"/>
          </a:xfrm>
        </p:grpSpPr>
        <p:pic>
          <p:nvPicPr>
            <p:cNvPr id="3" name="Imagem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3296" y="1509190"/>
              <a:ext cx="5638800" cy="2085975"/>
            </a:xfrm>
            <a:prstGeom prst="rect">
              <a:avLst/>
            </a:prstGeom>
          </p:spPr>
        </p:pic>
        <p:cxnSp>
          <p:nvCxnSpPr>
            <p:cNvPr id="6" name="Conector reto 5"/>
            <p:cNvCxnSpPr/>
            <p:nvPr/>
          </p:nvCxnSpPr>
          <p:spPr>
            <a:xfrm>
              <a:off x="622300" y="2286000"/>
              <a:ext cx="5401970" cy="0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to 6"/>
            <p:cNvCxnSpPr/>
            <p:nvPr/>
          </p:nvCxnSpPr>
          <p:spPr>
            <a:xfrm>
              <a:off x="622300" y="1962150"/>
              <a:ext cx="719089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CaixaDeTexto 8"/>
            <p:cNvSpPr txBox="1"/>
            <p:nvPr/>
          </p:nvSpPr>
          <p:spPr>
            <a:xfrm>
              <a:off x="322835" y="1824855"/>
              <a:ext cx="35298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pt-BR" sz="1200" b="1" dirty="0"/>
                <a:t>+V</a:t>
              </a:r>
            </a:p>
          </p:txBody>
        </p:sp>
        <p:sp>
          <p:nvSpPr>
            <p:cNvPr id="10" name="CaixaDeTexto 9"/>
            <p:cNvSpPr txBox="1"/>
            <p:nvPr/>
          </p:nvSpPr>
          <p:spPr>
            <a:xfrm>
              <a:off x="402978" y="2527301"/>
              <a:ext cx="26321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pt-BR" sz="1200" b="1" dirty="0"/>
                <a:t>0</a:t>
              </a:r>
            </a:p>
          </p:txBody>
        </p:sp>
        <p:sp>
          <p:nvSpPr>
            <p:cNvPr id="11" name="CaixaDeTexto 10"/>
            <p:cNvSpPr txBox="1"/>
            <p:nvPr/>
          </p:nvSpPr>
          <p:spPr>
            <a:xfrm>
              <a:off x="5850258" y="1830945"/>
              <a:ext cx="66665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1200" b="1" dirty="0"/>
                <a:t>Valor médio</a:t>
              </a:r>
            </a:p>
          </p:txBody>
        </p:sp>
      </p:grpSp>
      <p:sp>
        <p:nvSpPr>
          <p:cNvPr id="13" name="Espaço Reservado para Conteúdo 2"/>
          <p:cNvSpPr txBox="1">
            <a:spLocks/>
          </p:cNvSpPr>
          <p:nvPr/>
        </p:nvSpPr>
        <p:spPr>
          <a:xfrm>
            <a:off x="198918" y="3499914"/>
            <a:ext cx="11650704" cy="32056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</a:pPr>
            <a:r>
              <a:rPr lang="pt-BR" sz="2000" dirty="0"/>
              <a:t>Em outras palavras, se a tensão de entrada for de 10 V, com um </a:t>
            </a:r>
            <a:r>
              <a:rPr lang="pt-BR" sz="2000" b="1" i="1" dirty="0" err="1"/>
              <a:t>duty</a:t>
            </a:r>
            <a:r>
              <a:rPr lang="pt-BR" sz="2000" b="1" i="1" dirty="0"/>
              <a:t> </a:t>
            </a:r>
            <a:r>
              <a:rPr lang="pt-BR" sz="2000" b="1" i="1" dirty="0" err="1"/>
              <a:t>clicle</a:t>
            </a:r>
            <a:r>
              <a:rPr lang="pt-BR" sz="2000" b="1" i="1" dirty="0"/>
              <a:t> </a:t>
            </a:r>
            <a:r>
              <a:rPr lang="pt-BR" sz="2000" dirty="0"/>
              <a:t>de 50% o motor recebe pulsos de 10V, mas se comporta como se, em média, recebesse uma alimentação de 5V e através dele circulará uma corrente média que corresponde à metade da máxima, que é aquela que circula quando ele recebe 10V. O motor, nestas condições vai rodar com metade de sua velocidade máxima.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pt-BR" sz="2000" dirty="0"/>
              <a:t>Para alterar a velocidade do motor podemos alterar os pulsos aplicados. Se aumentarmos ou diminuirmos a duração dos pulsos, ou seja, mantivermos o elemento que liga e desliga mais tempo ligado ou desligado, o motor recebe alimentação por mais ou menos tempo, e na média podemos dizer que ele tem uma alimentação correspondente a uma tensão maior ou menor, conforme mostram  as figuras a seguir.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/>
              <p:cNvSpPr txBox="1"/>
              <p:nvPr/>
            </p:nvSpPr>
            <p:spPr>
              <a:xfrm>
                <a:off x="6889067" y="1646009"/>
                <a:ext cx="2340449" cy="56566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𝐷𝑢𝑡𝑦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𝐶𝑖𝑐𝑙𝑒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𝑂𝑁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𝑇𝑂𝑇𝐴𝐿</m:t>
                              </m:r>
                            </m:sub>
                          </m:sSub>
                        </m:den>
                      </m:f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4" name="CaixaDeTexto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9067" y="1646009"/>
                <a:ext cx="2340449" cy="56566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00311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11849622" cy="1325563"/>
          </a:xfrm>
        </p:spPr>
        <p:txBody>
          <a:bodyPr/>
          <a:lstStyle/>
          <a:p>
            <a:r>
              <a:rPr lang="pt-BR" dirty="0"/>
              <a:t>Controles de Potência</a:t>
            </a:r>
            <a:br>
              <a:rPr lang="pt-BR" dirty="0"/>
            </a:br>
            <a:r>
              <a:rPr lang="pt-BR" sz="2000" b="1" i="1" dirty="0"/>
              <a:t>Controles Não Lineares – O Controle PWM</a:t>
            </a:r>
            <a:endParaRPr lang="pt-BR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/>
              <p:cNvSpPr txBox="1"/>
              <p:nvPr/>
            </p:nvSpPr>
            <p:spPr>
              <a:xfrm>
                <a:off x="7003367" y="1673520"/>
                <a:ext cx="3103478" cy="56566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𝐷𝑢𝑡𝑦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𝐶𝑖𝑐𝑙𝑒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𝑂𝑁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𝑇𝑂𝑇𝐴𝐿</m:t>
                              </m:r>
                            </m:sub>
                          </m:sSub>
                        </m:den>
                      </m:f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%=25%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4" name="CaixaDeTexto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367" y="1673520"/>
                <a:ext cx="3103478" cy="56566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upo 4"/>
          <p:cNvGrpSpPr/>
          <p:nvPr/>
        </p:nvGrpSpPr>
        <p:grpSpPr>
          <a:xfrm>
            <a:off x="457461" y="1099909"/>
            <a:ext cx="6296978" cy="1971675"/>
            <a:chOff x="317761" y="3645965"/>
            <a:chExt cx="6296978" cy="1971675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0560" y="3645965"/>
              <a:ext cx="5505450" cy="1971675"/>
            </a:xfrm>
            <a:prstGeom prst="rect">
              <a:avLst/>
            </a:prstGeom>
          </p:spPr>
        </p:pic>
        <p:cxnSp>
          <p:nvCxnSpPr>
            <p:cNvPr id="6" name="Conector reto 5"/>
            <p:cNvCxnSpPr/>
            <p:nvPr/>
          </p:nvCxnSpPr>
          <p:spPr>
            <a:xfrm>
              <a:off x="720126" y="4495800"/>
              <a:ext cx="5401970" cy="0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CaixaDeTexto 8"/>
            <p:cNvSpPr txBox="1"/>
            <p:nvPr/>
          </p:nvSpPr>
          <p:spPr>
            <a:xfrm>
              <a:off x="317761" y="3889545"/>
              <a:ext cx="35298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pt-BR" sz="1200" b="1" dirty="0"/>
                <a:t>+V</a:t>
              </a:r>
            </a:p>
          </p:txBody>
        </p:sp>
        <p:sp>
          <p:nvSpPr>
            <p:cNvPr id="10" name="CaixaDeTexto 9"/>
            <p:cNvSpPr txBox="1"/>
            <p:nvPr/>
          </p:nvSpPr>
          <p:spPr>
            <a:xfrm>
              <a:off x="397904" y="4566591"/>
              <a:ext cx="26321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pt-BR" sz="1200" b="1" dirty="0"/>
                <a:t>0</a:t>
              </a:r>
            </a:p>
          </p:txBody>
        </p:sp>
        <p:sp>
          <p:nvSpPr>
            <p:cNvPr id="11" name="CaixaDeTexto 10"/>
            <p:cNvSpPr txBox="1"/>
            <p:nvPr/>
          </p:nvSpPr>
          <p:spPr>
            <a:xfrm>
              <a:off x="5948084" y="4040745"/>
              <a:ext cx="66665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1200" b="1" dirty="0"/>
                <a:t>Valor médio</a:t>
              </a:r>
            </a:p>
          </p:txBody>
        </p:sp>
        <p:cxnSp>
          <p:nvCxnSpPr>
            <p:cNvPr id="7" name="Conector reto 6"/>
            <p:cNvCxnSpPr/>
            <p:nvPr/>
          </p:nvCxnSpPr>
          <p:spPr>
            <a:xfrm>
              <a:off x="617226" y="4026840"/>
              <a:ext cx="719089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Imagem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296" y="2969690"/>
            <a:ext cx="5638800" cy="2085975"/>
          </a:xfrm>
          <a:prstGeom prst="rect">
            <a:avLst/>
          </a:prstGeom>
        </p:spPr>
      </p:pic>
      <p:cxnSp>
        <p:nvCxnSpPr>
          <p:cNvPr id="17" name="Conector reto 16"/>
          <p:cNvCxnSpPr/>
          <p:nvPr/>
        </p:nvCxnSpPr>
        <p:spPr>
          <a:xfrm>
            <a:off x="749300" y="3746500"/>
            <a:ext cx="5401970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749300" y="3422650"/>
            <a:ext cx="719089" cy="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449835" y="3285355"/>
            <a:ext cx="35298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1" dirty="0"/>
              <a:t>+V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529978" y="3987801"/>
            <a:ext cx="26321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1" dirty="0"/>
              <a:t>0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5977258" y="3291445"/>
            <a:ext cx="66665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200" b="1" dirty="0"/>
              <a:t>Valor médio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ixaDeTexto 21"/>
              <p:cNvSpPr txBox="1"/>
              <p:nvPr/>
            </p:nvSpPr>
            <p:spPr>
              <a:xfrm>
                <a:off x="7016067" y="3563709"/>
                <a:ext cx="3103478" cy="56566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𝐷𝑢𝑡𝑦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𝐶𝑖𝑐𝑙𝑒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𝑂𝑁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𝑇𝑂𝑇𝐴𝐿</m:t>
                              </m:r>
                            </m:sub>
                          </m:sSub>
                        </m:den>
                      </m:f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%=50%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" name="CaixaDeTexto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6067" y="3563709"/>
                <a:ext cx="3103478" cy="56566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m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926" y="4972050"/>
            <a:ext cx="5476875" cy="1885950"/>
          </a:xfrm>
          <a:prstGeom prst="rect">
            <a:avLst/>
          </a:prstGeom>
        </p:spPr>
      </p:pic>
      <p:cxnSp>
        <p:nvCxnSpPr>
          <p:cNvPr id="23" name="Conector reto 22"/>
          <p:cNvCxnSpPr/>
          <p:nvPr/>
        </p:nvCxnSpPr>
        <p:spPr>
          <a:xfrm>
            <a:off x="749300" y="5534112"/>
            <a:ext cx="5401970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77258" y="5079057"/>
            <a:ext cx="66665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200" b="1" dirty="0"/>
              <a:t>Valor médio</a:t>
            </a:r>
          </a:p>
        </p:txBody>
      </p:sp>
      <p:cxnSp>
        <p:nvCxnSpPr>
          <p:cNvPr id="25" name="Conector reto 24"/>
          <p:cNvCxnSpPr/>
          <p:nvPr/>
        </p:nvCxnSpPr>
        <p:spPr>
          <a:xfrm>
            <a:off x="757644" y="5303312"/>
            <a:ext cx="719089" cy="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458179" y="5166017"/>
            <a:ext cx="35298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1" dirty="0"/>
              <a:t>+V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38322" y="5868463"/>
            <a:ext cx="26321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/>
              <p:cNvSpPr txBox="1"/>
              <p:nvPr/>
            </p:nvSpPr>
            <p:spPr>
              <a:xfrm>
                <a:off x="7003367" y="5443016"/>
                <a:ext cx="3103478" cy="56566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𝐷𝑢𝑡𝑦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𝐶𝑖𝑐𝑙𝑒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𝑂𝑁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𝑇𝑂𝑇𝐴𝐿</m:t>
                              </m:r>
                            </m:sub>
                          </m:sSub>
                        </m:den>
                      </m:f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%=75%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8" name="CaixaDeTexto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367" y="5443016"/>
                <a:ext cx="3103478" cy="56566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03858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A1187-AE6E-9B79-2315-80AA6C17F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B365F6B0-C22B-1686-2435-5826D644F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dirty="0"/>
              <a:t>ESP32 – Saídas Analógicas usando PWM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A946DF2-C8B0-B3C6-631C-F8169BC25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00" y="1054858"/>
            <a:ext cx="10800000" cy="573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0961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A1187-AE6E-9B79-2315-80AA6C17F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B365F6B0-C22B-1686-2435-5826D644F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pt-BR" dirty="0"/>
              <a:t>ESP32 – Usando PWM para controlar LED RGB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9403480-993B-2EC2-F17C-91CCF59B8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1143954"/>
            <a:ext cx="7473934" cy="542829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DA0888F-62DB-EC92-8391-A45B9E3F1A21}"/>
              </a:ext>
            </a:extLst>
          </p:cNvPr>
          <p:cNvSpPr txBox="1"/>
          <p:nvPr/>
        </p:nvSpPr>
        <p:spPr>
          <a:xfrm>
            <a:off x="8031146" y="1150839"/>
            <a:ext cx="39751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Programe o ESP32 no circuito ao lado para acionar o LED RGB utilizando um </a:t>
            </a:r>
            <a:r>
              <a:rPr lang="pt-BR" dirty="0" err="1"/>
              <a:t>slider</a:t>
            </a:r>
            <a:r>
              <a:rPr lang="pt-BR" dirty="0"/>
              <a:t> para controlar cada componente de cor, possibilitando assim criar diversas cores conforme o controle for ajustado. Se o valor de cada </a:t>
            </a:r>
            <a:r>
              <a:rPr lang="pt-BR" dirty="0" err="1"/>
              <a:t>slider</a:t>
            </a:r>
            <a:r>
              <a:rPr lang="pt-BR" dirty="0"/>
              <a:t> for maior que 0 o led correspondente deve indicar como ligado.</a:t>
            </a:r>
          </a:p>
        </p:txBody>
      </p:sp>
    </p:spTree>
    <p:extLst>
      <p:ext uri="{BB962C8B-B14F-4D97-AF65-F5344CB8AC3E}">
        <p14:creationId xmlns:p14="http://schemas.microsoft.com/office/powerpoint/2010/main" val="9896149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8B1B752F-3148-B448-57B0-88A61BF94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pt-BR" dirty="0"/>
              <a:t>ESP32 – Controlando um </a:t>
            </a:r>
            <a:r>
              <a:rPr lang="pt-BR" dirty="0" err="1"/>
              <a:t>Servo-motor</a:t>
            </a:r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779875D-45EA-3E69-F57A-E37E54C69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00" y="1392182"/>
            <a:ext cx="10800000" cy="498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1465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53DB4FF-FECF-AE3F-5CAA-CA40F352A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756" y="1133475"/>
            <a:ext cx="9000000" cy="5329206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A68E38CE-25B2-A4A7-0E88-5F4302B90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pt-BR" dirty="0"/>
              <a:t>ESP32 – Controlando um Step-motor (1.8°)</a:t>
            </a:r>
          </a:p>
        </p:txBody>
      </p:sp>
    </p:spTree>
    <p:extLst>
      <p:ext uri="{BB962C8B-B14F-4D97-AF65-F5344CB8AC3E}">
        <p14:creationId xmlns:p14="http://schemas.microsoft.com/office/powerpoint/2010/main" val="15688683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A1187-AE6E-9B79-2315-80AA6C17F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B365F6B0-C22B-1686-2435-5826D644F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pt-BR" dirty="0"/>
              <a:t>ESP32 – Controlando display LCD Alfanumérico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9ABF865-8CA6-2F09-F225-AC43C515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533" y="1182985"/>
            <a:ext cx="10800000" cy="514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4936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CAE5814-1503-F88C-874B-6C3B76E9A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241684"/>
            <a:ext cx="7606339" cy="5388159"/>
          </a:xfrm>
          <a:prstGeom prst="rect">
            <a:avLst/>
          </a:prstGeom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7838CAC5-BC32-8C8A-9891-9DF0A3D42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pt-BR" dirty="0"/>
              <a:t>ESP32 – Exercício Desafio – Gerenciando Menus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2D4AD62-2807-AA6C-2DAF-71D0214E4A3F}"/>
              </a:ext>
            </a:extLst>
          </p:cNvPr>
          <p:cNvSpPr txBox="1"/>
          <p:nvPr/>
        </p:nvSpPr>
        <p:spPr>
          <a:xfrm>
            <a:off x="8031146" y="1150839"/>
            <a:ext cx="397511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Programe o ESP32 no circuito ao lado para gerencia telas no display LCD. O display deverá ter três telas (conforme apresentadas no slide seguinte) selecionadas pela operação dos botões, onde, o botão verde avança o número da tela, o vermelho retorna às telas anteriores, e o botão azul seleciona a tela desejada. </a:t>
            </a:r>
          </a:p>
        </p:txBody>
      </p:sp>
    </p:spTree>
    <p:extLst>
      <p:ext uri="{BB962C8B-B14F-4D97-AF65-F5344CB8AC3E}">
        <p14:creationId xmlns:p14="http://schemas.microsoft.com/office/powerpoint/2010/main" val="24508730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CAE5814-1503-F88C-874B-6C3B76E9A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241684"/>
            <a:ext cx="7606339" cy="538815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3188CAB-3901-5A0A-E4D8-3329E0DC1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300" y="1241684"/>
            <a:ext cx="3600000" cy="165313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AB39BDD-FE2A-EC58-D462-24ABAEA3B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5300" y="3102875"/>
            <a:ext cx="3600000" cy="166577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BC1E565-C537-64B5-8FC0-3D646A45F7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5300" y="4976710"/>
            <a:ext cx="3600000" cy="1645522"/>
          </a:xfrm>
          <a:prstGeom prst="rect">
            <a:avLst/>
          </a:prstGeom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7838CAC5-BC32-8C8A-9891-9DF0A3D42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pt-BR" dirty="0"/>
              <a:t>ESP32 – Exercício Desafio – Gerenciando Menus</a:t>
            </a:r>
          </a:p>
        </p:txBody>
      </p:sp>
    </p:spTree>
    <p:extLst>
      <p:ext uri="{BB962C8B-B14F-4D97-AF65-F5344CB8AC3E}">
        <p14:creationId xmlns:p14="http://schemas.microsoft.com/office/powerpoint/2010/main" val="35949948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FE300-58F0-F045-CCF5-FED349228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823" y="1564629"/>
            <a:ext cx="6031434" cy="5247359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O Sensor de Umidade e Temperatura da série DHT é um dos componentes mais utilizados em projetos que envolva medição de temperatura e umidade ambiente. Estes sensores fazem medições de temperatura de 0º até 50º celsius e mede a umidade do ar nas faixas de 20% a 90%. A precisão (margem de erro) do sensor para medição de temperatura é de aproximadamente 2°C celsius e para umidade é de 5%.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7453829-D8D5-5F83-B3E8-77F8D73AA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431" y="1344390"/>
            <a:ext cx="2741662" cy="2741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4">
            <a:extLst>
              <a:ext uri="{FF2B5EF4-FFF2-40B4-BE49-F238E27FC236}">
                <a16:creationId xmlns:a16="http://schemas.microsoft.com/office/drawing/2014/main" id="{2D93C081-8617-E50A-1FA8-9999DF0AA1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823421" cy="1823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FA9AAFB8-C730-2A2B-CC7F-018365B6A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093" y="1720643"/>
            <a:ext cx="1922219" cy="1932371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F23A290B-9382-07E9-01BF-833FDC684D5A}"/>
              </a:ext>
            </a:extLst>
          </p:cNvPr>
          <p:cNvSpPr txBox="1"/>
          <p:nvPr/>
        </p:nvSpPr>
        <p:spPr>
          <a:xfrm>
            <a:off x="7670202" y="1484414"/>
            <a:ext cx="925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DHT11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C77D5DE-603D-7C4C-B7F7-3E89B17E500C}"/>
              </a:ext>
            </a:extLst>
          </p:cNvPr>
          <p:cNvSpPr txBox="1"/>
          <p:nvPr/>
        </p:nvSpPr>
        <p:spPr>
          <a:xfrm>
            <a:off x="9486706" y="1484414"/>
            <a:ext cx="925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DHT22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FF908FB-9370-74C1-E2B4-B41F6CD6E50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ESP32 – Lendo dados de Sensores</a:t>
            </a:r>
            <a:br>
              <a:rPr lang="pt-BR"/>
            </a:br>
            <a:r>
              <a:rPr lang="pt-BR" sz="2000"/>
              <a:t>DHT11/DHT22 / LM35 / DS18B20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93908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9996" y="0"/>
            <a:ext cx="10515600" cy="1325563"/>
          </a:xfrm>
        </p:spPr>
        <p:txBody>
          <a:bodyPr/>
          <a:lstStyle/>
          <a:p>
            <a:r>
              <a:rPr lang="pt-BR" dirty="0"/>
              <a:t>Sensor de Temperatura e Umidade </a:t>
            </a:r>
            <a:br>
              <a:rPr lang="pt-BR" dirty="0"/>
            </a:br>
            <a:r>
              <a:rPr lang="pt-BR" sz="2400" dirty="0"/>
              <a:t>DHT22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FE300-58F0-F045-CCF5-FED349228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96" y="1564629"/>
            <a:ext cx="6031434" cy="5247359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pt-BR" sz="1800" b="1" dirty="0"/>
              <a:t>Especificações e características do Sensor DHT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1800" dirty="0"/>
              <a:t>– Tensão de operação: 3.3 – 6 VDC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1800" dirty="0"/>
              <a:t>– Corrente de operação: 2.5 </a:t>
            </a:r>
            <a:r>
              <a:rPr lang="pt-BR" sz="1800" dirty="0" err="1"/>
              <a:t>mA</a:t>
            </a:r>
            <a:r>
              <a:rPr lang="pt-BR" sz="1800" dirty="0"/>
              <a:t> durante a conversão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1800" dirty="0"/>
              <a:t>– Corrente de operação (em standby): 40 a 50µA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1800" dirty="0"/>
              <a:t>– Resolução: 40 bits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1800" dirty="0"/>
              <a:t>– Faixa de medição (umidade): 0 a 100%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1800" dirty="0"/>
              <a:t>– Faixa de medição (temperatura): -40° a 80°  celsius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1800" dirty="0"/>
              <a:t>– Precisão (umidade): ± 2 ~ 5%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1800" dirty="0"/>
              <a:t>– Precisão (temperatura): ±0.5° celsius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1800" dirty="0"/>
              <a:t>– Tempo de resposta: 2s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2D93C081-8617-E50A-1FA8-9999DF0AA1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823421" cy="1823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31FD15C-702B-E53E-A6D1-37977A6C9DC0}"/>
              </a:ext>
            </a:extLst>
          </p:cNvPr>
          <p:cNvSpPr txBox="1"/>
          <p:nvPr/>
        </p:nvSpPr>
        <p:spPr>
          <a:xfrm>
            <a:off x="6696634" y="4334297"/>
            <a:ext cx="5071997" cy="1531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pt-BR" sz="1600" b="1" i="0" dirty="0">
                <a:solidFill>
                  <a:srgbClr val="000000"/>
                </a:solidFill>
                <a:effectLst/>
              </a:rPr>
              <a:t>Aplicações:</a:t>
            </a:r>
            <a:endParaRPr lang="pt-BR" sz="1600" b="0" i="0" dirty="0">
              <a:solidFill>
                <a:srgbClr val="000000"/>
              </a:solidFill>
              <a:effectLst/>
            </a:endParaRPr>
          </a:p>
          <a:p>
            <a:pPr fontAlgn="base">
              <a:lnSpc>
                <a:spcPct val="150000"/>
              </a:lnSpc>
            </a:pPr>
            <a:r>
              <a:rPr lang="pt-BR" sz="1600" b="0" i="0" dirty="0">
                <a:solidFill>
                  <a:srgbClr val="000000"/>
                </a:solidFill>
                <a:effectLst/>
              </a:rPr>
              <a:t>Projetos com finalidade de medir umidade e temperatura ambiente utilizando Arduino, Esp32 ou outras plataformas microcontroladas.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79F0305-BD54-925D-0A74-D939901A1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5309" y="1215362"/>
            <a:ext cx="3109958" cy="3126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7167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A1187-AE6E-9B79-2315-80AA6C17F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B365F6B0-C22B-1686-2435-5826D644F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pt-BR" dirty="0"/>
              <a:t>ESP32 – Lendo dados de Sensores – DHT22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1CED6D6-8E61-EE58-04FF-72EB5CBBD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000" y="1018674"/>
            <a:ext cx="9720000" cy="560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7381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3187</TotalTime>
  <Words>1317</Words>
  <Application>Microsoft Office PowerPoint</Application>
  <PresentationFormat>Widescreen</PresentationFormat>
  <Paragraphs>96</Paragraphs>
  <Slides>37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3" baseType="lpstr">
      <vt:lpstr>Arial</vt:lpstr>
      <vt:lpstr>Calibri</vt:lpstr>
      <vt:lpstr>Calibri Light</vt:lpstr>
      <vt:lpstr>Cambria Math</vt:lpstr>
      <vt:lpstr>Open Sans Light</vt:lpstr>
      <vt:lpstr>Tema do Office</vt:lpstr>
      <vt:lpstr>Apresentação do PowerPoint</vt:lpstr>
      <vt:lpstr>Técnico em Desenvolvimento de Sistemas</vt:lpstr>
      <vt:lpstr>Técnico em Desenvolvimento de Sistemas</vt:lpstr>
      <vt:lpstr>  Introdução ao ESP32   </vt:lpstr>
      <vt:lpstr>Características principais</vt:lpstr>
      <vt:lpstr>Comparativo entre ESP32, ESP8266 e Arduino R3</vt:lpstr>
      <vt:lpstr>Tipos de ESP32</vt:lpstr>
      <vt:lpstr>WiFi NodeMCU-32S ESP-WROOM-32</vt:lpstr>
      <vt:lpstr>Configurando IDE do Arduino (windows)</vt:lpstr>
      <vt:lpstr>Configurando IDE do Arduino (windows)</vt:lpstr>
      <vt:lpstr>Configurando IDE do Arduino (windows)</vt:lpstr>
      <vt:lpstr>Configurando IDE do Arduino (windows)</vt:lpstr>
      <vt:lpstr>Apresentação do PowerPoint</vt:lpstr>
      <vt:lpstr>Apresentação do PowerPoint</vt:lpstr>
      <vt:lpstr>Apresentação do PowerPoint</vt:lpstr>
      <vt:lpstr>Simulador para ESP32</vt:lpstr>
      <vt:lpstr>Simulador para ESP32</vt:lpstr>
      <vt:lpstr>Simulador online para ESP32 – Wokwi.com</vt:lpstr>
      <vt:lpstr>ESP32 – Apresentando dados na porta Serial</vt:lpstr>
      <vt:lpstr>ESP32 – Lendo dados na entrada digital</vt:lpstr>
      <vt:lpstr>ESP32 – Lendo dados na entrada analógica</vt:lpstr>
      <vt:lpstr>ESP32 – Apresentando dados na saída digital</vt:lpstr>
      <vt:lpstr>ESP32 – Exercício - desafio</vt:lpstr>
      <vt:lpstr>Controles de Potência Controles Não Lineares – Técnica de Modulação Por Largura de Pulsos (PWM)</vt:lpstr>
      <vt:lpstr>Controles de Potência Controles Não Lineares – O Controle PWM</vt:lpstr>
      <vt:lpstr>Controles de Potência Controles Não Lineares – O Controle PWM</vt:lpstr>
      <vt:lpstr>Controles de Potência Controles Não Lineares – O Controle PWM</vt:lpstr>
      <vt:lpstr>ESP32 – Saídas Analógicas usando PWM</vt:lpstr>
      <vt:lpstr>ESP32 – Usando PWM para controlar LED RGB</vt:lpstr>
      <vt:lpstr>ESP32 – Controlando um Servo-motor</vt:lpstr>
      <vt:lpstr>ESP32 – Controlando um Step-motor (1.8°)</vt:lpstr>
      <vt:lpstr>ESP32 – Controlando display LCD Alfanumérico</vt:lpstr>
      <vt:lpstr>ESP32 – Exercício Desafio – Gerenciando Menus</vt:lpstr>
      <vt:lpstr>ESP32 – Exercício Desafio – Gerenciando Menus</vt:lpstr>
      <vt:lpstr>Apresentação do PowerPoint</vt:lpstr>
      <vt:lpstr>Sensor de Temperatura e Umidade  DHT22</vt:lpstr>
      <vt:lpstr>ESP32 – Lendo dados de Sensores – DHT22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ao ESP32</dc:title>
  <dc:creator>Gerson Trindade</dc:creator>
  <cp:lastModifiedBy>Gerson Trindade</cp:lastModifiedBy>
  <cp:revision>28</cp:revision>
  <dcterms:created xsi:type="dcterms:W3CDTF">2024-03-06T19:24:45Z</dcterms:created>
  <dcterms:modified xsi:type="dcterms:W3CDTF">2025-08-18T19:08:51Z</dcterms:modified>
</cp:coreProperties>
</file>